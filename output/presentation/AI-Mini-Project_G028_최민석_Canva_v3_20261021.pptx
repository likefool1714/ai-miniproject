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Source Han Sans KR Bold" charset="1" panose="020B0800000000000000"/>
      <p:regular r:id="rId15"/>
    </p:embeddedFont>
    <p:embeddedFont>
      <p:font typeface="Source Han Sans KR Medium" charset="1" panose="020B0600000000000000"/>
      <p:regular r:id="rId16"/>
    </p:embeddedFont>
    <p:embeddedFont>
      <p:font typeface="Source Han Sans KR" charset="1" panose="020B04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2500" y="2724150"/>
            <a:ext cx="12001500" cy="262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99"/>
              </a:lnSpc>
              <a:spcBef>
                <a:spcPct val="0"/>
              </a:spcBef>
            </a:pPr>
            <a:r>
              <a:rPr lang="en-US" b="true" sz="8399" spc="-168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운영 장애 대응</a:t>
            </a:r>
          </a:p>
          <a:p>
            <a:pPr algn="l" marL="0" indent="0" lvl="0">
              <a:lnSpc>
                <a:spcPts val="10499"/>
              </a:lnSpc>
              <a:spcBef>
                <a:spcPct val="0"/>
              </a:spcBef>
            </a:pPr>
            <a:r>
              <a:rPr lang="en-US" b="true" sz="8399" spc="-168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에이전트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9650" y="6029325"/>
            <a:ext cx="11430000" cy="46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b="true" sz="2999" spc="-60" strike="noStrike" u="none">
                <a:solidFill>
                  <a:srgbClr val="C5DD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상태 변화 추적 · 근거 기반 복구 확인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9650" y="1895475"/>
            <a:ext cx="6191250" cy="31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4"/>
              </a:lnSpc>
              <a:spcBef>
                <a:spcPct val="0"/>
              </a:spcBef>
            </a:pPr>
            <a:r>
              <a:rPr lang="en-US" b="true" sz="2099" spc="-42" strike="noStrike" u="none">
                <a:solidFill>
                  <a:srgbClr val="6BA9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AI MINI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9650" y="9248775"/>
            <a:ext cx="4762500" cy="300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b="true" sz="1950" spc="-39">
                <a:solidFill>
                  <a:srgbClr val="D3DCE8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G028 최민석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81050"/>
            <a:ext cx="15716250" cy="93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0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기존 구조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0100" y="2324100"/>
            <a:ext cx="13335000" cy="420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700" spc="-54" strike="noStrike" u="none">
                <a:solidFill>
                  <a:srgbClr val="C5DD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질문 → 도구 조회 → 답변 생성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478220" y="535667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22022" y="5028914"/>
            <a:ext cx="794812" cy="96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LLM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계획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748622" y="5356674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31745" y="4787941"/>
            <a:ext cx="1702252" cy="144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MCP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모니터링·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런북 조회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008086" y="535667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59732" y="5356674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735653" y="5028914"/>
            <a:ext cx="734434" cy="96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형식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검사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100" y="6791325"/>
            <a:ext cx="13335000" cy="39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  <a:spcBef>
                <a:spcPct val="0"/>
              </a:spcBef>
            </a:pPr>
            <a:r>
              <a:rPr lang="en-US" b="true" sz="2575" spc="-51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MCP · 모델 · 웹 연결은 재사용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0100" y="7505700"/>
            <a:ext cx="12382500" cy="39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  <a:spcBef>
                <a:spcPct val="0"/>
              </a:spcBef>
            </a:pPr>
            <a:r>
              <a:rPr lang="en-US" b="true" sz="2575" spc="-51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기존 검사: 길이와 번호 형식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8162925"/>
            <a:ext cx="12858750" cy="4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119" strike="noStrike" u="none">
                <a:solidFill>
                  <a:srgbClr val="D8E8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ok = len(draft) &gt;= 30 and "1)" in draft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0366" y="5269888"/>
            <a:ext cx="734434" cy="48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8"/>
              </a:lnSpc>
              <a:spcBef>
                <a:spcPct val="0"/>
              </a:spcBef>
            </a:pPr>
            <a:r>
              <a:rPr lang="en-US" b="true" sz="3102" spc="-62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질문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35163" y="5269888"/>
            <a:ext cx="734434" cy="48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답변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추가한 처리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333625"/>
            <a:ext cx="16668750" cy="39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625" strike="noStrike" u="none">
                <a:solidFill>
                  <a:srgbClr val="C5DD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이전 관측이 있어야 상태 변화와 복구 여부를 설명할 수 있습니다.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5769" y="4160938"/>
            <a:ext cx="1915945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질문·대상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확인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478220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98359" y="4160938"/>
            <a:ext cx="825220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관측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조회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956440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43677" y="4160938"/>
            <a:ext cx="1752246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관측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이력 저장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445598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684858" y="4160938"/>
            <a:ext cx="1915945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변화·복구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판정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923818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057178" y="4160938"/>
            <a:ext cx="2164856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근거 검사와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설명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48359" y="6670489"/>
            <a:ext cx="1807071" cy="54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8"/>
              </a:lnSpc>
              <a:spcBef>
                <a:spcPct val="0"/>
              </a:spcBef>
            </a:pPr>
            <a:r>
              <a:rPr lang="en-US" b="true" sz="3537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재사용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72020" y="6736316"/>
            <a:ext cx="3405070" cy="45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b="tru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MCP · 모델 · 웹 연결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5330" y="7707051"/>
            <a:ext cx="1968804" cy="437279"/>
          </a:xfrm>
          <a:custGeom>
            <a:avLst/>
            <a:gdLst/>
            <a:ahLst/>
            <a:cxnLst/>
            <a:rect r="r" b="b" t="t" l="l"/>
            <a:pathLst>
              <a:path h="437279" w="1968804">
                <a:moveTo>
                  <a:pt x="0" y="0"/>
                </a:moveTo>
                <a:lnTo>
                  <a:pt x="1968804" y="0"/>
                </a:lnTo>
                <a:lnTo>
                  <a:pt x="1968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844104" y="7739809"/>
            <a:ext cx="2232590" cy="54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8"/>
              </a:lnSpc>
              <a:spcBef>
                <a:spcPct val="0"/>
              </a:spcBef>
            </a:pPr>
            <a:r>
              <a:rPr lang="en-US" b="true" sz="3537" strike="noStrike" u="none">
                <a:solidFill>
                  <a:srgbClr val="7DB7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직접 구현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53976" y="7805636"/>
            <a:ext cx="5209425" cy="45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4"/>
              </a:lnSpc>
              <a:spcBef>
                <a:spcPct val="0"/>
              </a:spcBef>
            </a:pPr>
            <a:r>
              <a:rPr lang="en-US" b="true" sz="2896" strike="noStrike" u="non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관측 이력 · 복구 판정 · 근거 검증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14375"/>
            <a:ext cx="1619250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 실제 답변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190750"/>
            <a:ext cx="16668750" cy="39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625" strike="noStrike" u="none">
                <a:solidFill>
                  <a:srgbClr val="C5DD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질문: PAYMENTS-SERVICE의 복구 여부를 진단해 주세요.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8250" y="3333750"/>
            <a:ext cx="4857750" cy="124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F3BD92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정상 1회로</a:t>
            </a:r>
          </a:p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F3BD92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복구 완료 판단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8250" y="5143500"/>
            <a:ext cx="4857750" cy="7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sz="2549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CPU 55% · 메모리 60%</a:t>
            </a:r>
          </a:p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sz="2549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활성 알림 0건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250" y="6581775"/>
            <a:ext cx="4857750" cy="91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b="true" sz="3149" strike="noStrike" u="none">
                <a:solidFill>
                  <a:srgbClr val="F3BD92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조회하지 않은 점검도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b="true" sz="3149" strike="noStrike" u="none">
                <a:solidFill>
                  <a:srgbClr val="F3BD92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수행했다고 표현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250" y="8096250"/>
            <a:ext cx="4857750" cy="7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C5DD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일시적 정상화와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C5DD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확인하지 않은 설명을 보완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000" y="9563100"/>
            <a:ext cx="16764000" cy="29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0"/>
              </a:lnSpc>
              <a:spcBef>
                <a:spcPct val="0"/>
              </a:spcBef>
            </a:pPr>
            <a:r>
              <a:rPr lang="en-US" sz="1874" strike="noStrike" u="none">
                <a:solidFill>
                  <a:srgbClr val="B7C8DD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제공 원본 D1043FF · 실제 OLLAMA · 고정 합성 관측 · 이번 화면은 단일 사례</a:t>
            </a:r>
          </a:p>
        </p:txBody>
      </p:sp>
      <p:sp>
        <p:nvSpPr>
          <p:cNvPr name="Freeform 10" id="10" descr="제공 원본 채팅창에서 첫 정상 관측만으로 복구 완료라고 답한 실제 화면"/>
          <p:cNvSpPr/>
          <p:nvPr/>
        </p:nvSpPr>
        <p:spPr>
          <a:xfrm flipH="false" flipV="false" rot="0">
            <a:off x="666750" y="3333750"/>
            <a:ext cx="11620500" cy="5227606"/>
          </a:xfrm>
          <a:custGeom>
            <a:avLst/>
            <a:gdLst/>
            <a:ahLst/>
            <a:cxnLst/>
            <a:rect r="r" b="b" t="t" l="l"/>
            <a:pathLst>
              <a:path h="5227606" w="11620500">
                <a:moveTo>
                  <a:pt x="0" y="0"/>
                </a:moveTo>
                <a:lnTo>
                  <a:pt x="11620500" y="0"/>
                </a:lnTo>
                <a:lnTo>
                  <a:pt x="11620500" y="5227606"/>
                </a:lnTo>
                <a:lnTo>
                  <a:pt x="0" y="5227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3" t="0" r="-123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14375"/>
            <a:ext cx="1619250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후 실제 답변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190750"/>
            <a:ext cx="16668750" cy="410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같은 관측값에서도 정상화와 복구를 구분해 설명합니다.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8250" y="5391150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왜 보류했는지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8250" y="6153150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언제 다시 확인할지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250" y="6915150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근거와 함께 안내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250" y="3343275"/>
            <a:ext cx="4857750" cy="1168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b="true" sz="3899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정상 관측 1/2회</a:t>
            </a:r>
          </a:p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b="true" sz="3899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복구 확정 보류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000" y="9563100"/>
            <a:ext cx="16764000" cy="29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0"/>
              </a:lnSpc>
              <a:spcBef>
                <a:spcPct val="0"/>
              </a:spcBef>
            </a:pPr>
            <a:r>
              <a:rPr lang="en-US" sz="1874" strike="noStrike" u="none">
                <a:solidFill>
                  <a:srgbClr val="B7C8D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고정 합성 관측 · 복구 재점검은 코드 정책으로 판정 · 실제 채팅 화면</a:t>
            </a:r>
          </a:p>
        </p:txBody>
      </p:sp>
      <p:sp>
        <p:nvSpPr>
          <p:cNvPr name="Freeform 10" id="10" descr="같은 첫 정상 관측에서 부분 회복과 정상 1/2회·다음 확인 조건을 설명한 수정 코드 실제 채팅"/>
          <p:cNvSpPr/>
          <p:nvPr/>
        </p:nvSpPr>
        <p:spPr>
          <a:xfrm flipH="false" flipV="false" rot="0">
            <a:off x="666750" y="3333750"/>
            <a:ext cx="11620500" cy="5227606"/>
          </a:xfrm>
          <a:custGeom>
            <a:avLst/>
            <a:gdLst/>
            <a:ahLst/>
            <a:cxnLst/>
            <a:rect r="r" b="b" t="t" l="l"/>
            <a:pathLst>
              <a:path h="5227606" w="11620500">
                <a:moveTo>
                  <a:pt x="0" y="0"/>
                </a:moveTo>
                <a:lnTo>
                  <a:pt x="11620500" y="0"/>
                </a:lnTo>
                <a:lnTo>
                  <a:pt x="11620500" y="5227606"/>
                </a:lnTo>
                <a:lnTo>
                  <a:pt x="0" y="5227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3" t="0" r="-123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판정과 근거 검증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333625"/>
            <a:ext cx="16668750" cy="39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625" spc="-52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정상 횟수·답변 근거·자료 형식을 검사해 성급한 판정을 줄였습니다.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3640352"/>
            <a:ext cx="2187560" cy="863627"/>
          </a:xfrm>
          <a:custGeom>
            <a:avLst/>
            <a:gdLst/>
            <a:ahLst/>
            <a:cxnLst/>
            <a:rect r="r" b="b" t="t" l="l"/>
            <a:pathLst>
              <a:path h="863627" w="2187560">
                <a:moveTo>
                  <a:pt x="0" y="0"/>
                </a:moveTo>
                <a:lnTo>
                  <a:pt x="2187560" y="0"/>
                </a:lnTo>
                <a:lnTo>
                  <a:pt x="218756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574" y="4285339"/>
            <a:ext cx="5457962" cy="2579949"/>
          </a:xfrm>
          <a:custGeom>
            <a:avLst/>
            <a:gdLst/>
            <a:ahLst/>
            <a:cxnLst/>
            <a:rect r="r" b="b" t="t" l="l"/>
            <a:pathLst>
              <a:path h="2579949" w="5457962">
                <a:moveTo>
                  <a:pt x="0" y="0"/>
                </a:moveTo>
                <a:lnTo>
                  <a:pt x="5457962" y="0"/>
                </a:lnTo>
                <a:lnTo>
                  <a:pt x="545796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1133" y="4639573"/>
            <a:ext cx="3896086" cy="69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9"/>
              </a:lnSpc>
              <a:spcBef>
                <a:spcPct val="0"/>
              </a:spcBef>
            </a:pPr>
            <a:r>
              <a:rPr lang="en-US" sz="2699" spc="-188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normal_streak += 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873598" y="3640352"/>
            <a:ext cx="2625072" cy="863627"/>
          </a:xfrm>
          <a:custGeom>
            <a:avLst/>
            <a:gdLst/>
            <a:ahLst/>
            <a:cxnLst/>
            <a:rect r="r" b="b" t="t" l="l"/>
            <a:pathLst>
              <a:path h="863627" w="2625072">
                <a:moveTo>
                  <a:pt x="0" y="0"/>
                </a:moveTo>
                <a:lnTo>
                  <a:pt x="2625072" y="0"/>
                </a:lnTo>
                <a:lnTo>
                  <a:pt x="262507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73598" y="4285339"/>
            <a:ext cx="6322048" cy="2579949"/>
          </a:xfrm>
          <a:custGeom>
            <a:avLst/>
            <a:gdLst/>
            <a:ahLst/>
            <a:cxnLst/>
            <a:rect r="r" b="b" t="t" l="l"/>
            <a:pathLst>
              <a:path h="2579949" w="6322048">
                <a:moveTo>
                  <a:pt x="0" y="0"/>
                </a:moveTo>
                <a:lnTo>
                  <a:pt x="6322048" y="0"/>
                </a:lnTo>
                <a:lnTo>
                  <a:pt x="632204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91250" y="4733925"/>
            <a:ext cx="5715000" cy="113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9"/>
              </a:lnSpc>
              <a:spcBef>
                <a:spcPct val="0"/>
              </a:spcBef>
            </a:pPr>
            <a:r>
              <a:rPr lang="en-US" sz="2099" spc="-1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draft, errors = validate_draft(</a:t>
            </a:r>
          </a:p>
          <a:p>
            <a:pPr algn="l" marL="0" indent="0" lvl="0">
              <a:lnSpc>
                <a:spcPts val="4829"/>
              </a:lnSpc>
              <a:spcBef>
                <a:spcPct val="0"/>
              </a:spcBef>
            </a:pPr>
            <a:r>
              <a:rPr lang="en-US" sz="2099" spc="-1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  state["draft"], bundle)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403464" y="3640352"/>
            <a:ext cx="2187560" cy="863627"/>
          </a:xfrm>
          <a:custGeom>
            <a:avLst/>
            <a:gdLst/>
            <a:ahLst/>
            <a:cxnLst/>
            <a:rect r="r" b="b" t="t" l="l"/>
            <a:pathLst>
              <a:path h="863627" w="2187560">
                <a:moveTo>
                  <a:pt x="0" y="0"/>
                </a:moveTo>
                <a:lnTo>
                  <a:pt x="2187560" y="0"/>
                </a:lnTo>
                <a:lnTo>
                  <a:pt x="218756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03464" y="4285339"/>
            <a:ext cx="5457962" cy="2579949"/>
          </a:xfrm>
          <a:custGeom>
            <a:avLst/>
            <a:gdLst/>
            <a:ahLst/>
            <a:cxnLst/>
            <a:rect r="r" b="b" t="t" l="l"/>
            <a:pathLst>
              <a:path h="2579949" w="5457962">
                <a:moveTo>
                  <a:pt x="0" y="0"/>
                </a:moveTo>
                <a:lnTo>
                  <a:pt x="5457962" y="0"/>
                </a:lnTo>
                <a:lnTo>
                  <a:pt x="545796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715875" y="4657725"/>
            <a:ext cx="5048250" cy="127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47"/>
              </a:lnSpc>
              <a:spcBef>
                <a:spcPct val="0"/>
              </a:spcBef>
            </a:pPr>
            <a:r>
              <a:rPr lang="en-US" sz="2324" spc="-162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Field(ge=0, le=100,</a:t>
            </a:r>
          </a:p>
          <a:p>
            <a:pPr algn="l" marL="0" indent="0" lvl="0">
              <a:lnSpc>
                <a:spcPts val="5347"/>
              </a:lnSpc>
              <a:spcBef>
                <a:spcPct val="0"/>
              </a:spcBef>
            </a:pPr>
            <a:r>
              <a:rPr lang="en-US" sz="2324" spc="-162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    strict=True)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5300" y="7105650"/>
            <a:ext cx="5286375" cy="1122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9"/>
              </a:lnSpc>
              <a:spcBef>
                <a:spcPct val="0"/>
              </a:spcBef>
            </a:pPr>
            <a:r>
              <a:rPr lang="en-US" sz="2324" spc="-46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복구 판정</a:t>
            </a:r>
          </a:p>
          <a:p>
            <a:pPr algn="l" marL="0" indent="0" lvl="0">
              <a:lnSpc>
                <a:spcPts val="4649"/>
              </a:lnSpc>
              <a:spcBef>
                <a:spcPct val="0"/>
              </a:spcBef>
            </a:pPr>
            <a:r>
              <a:rPr lang="en-US" sz="2324" spc="-46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정상 2회·5초 간격, 수집 취소 시 재집계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05948" y="7096125"/>
            <a:ext cx="5476875" cy="118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sz="2475" spc="-49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근거 검사</a:t>
            </a:r>
          </a:p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sz="2475" spc="-49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grounding.py에서 근거·런북 대조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92050" y="7096125"/>
            <a:ext cx="5334000" cy="116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자료 형식 검사</a:t>
            </a:r>
          </a:p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true/false를 백분율로 변환하지 않음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22219" y="3892085"/>
            <a:ext cx="503634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6"/>
              </a:lnSpc>
              <a:spcBef>
                <a:spcPct val="0"/>
              </a:spcBef>
            </a:pPr>
            <a:r>
              <a:rPr lang="en-US" b="true" sz="232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graph.py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0094" y="3892085"/>
            <a:ext cx="503634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46" b="tru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recovery.py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15875" y="3886200"/>
            <a:ext cx="5048250" cy="30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099" spc="-42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recovery.py · 관측 스키마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3190" y="2337163"/>
            <a:ext cx="9690353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5"/>
              </a:lnSpc>
              <a:spcBef>
                <a:spcPct val="0"/>
              </a:spcBef>
            </a:pPr>
            <a:r>
              <a:rPr lang="en-US" b="true" sz="2896" spc="-57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동일한 합성 관측 5단계 × 3회 · 10/20 비교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1630" y="3674034"/>
            <a:ext cx="3176886" cy="125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조기 복구 오류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(적을수록 좋음)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04410" y="3412019"/>
            <a:ext cx="176053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0"/>
              </a:lnSpc>
            </a:pPr>
            <a:r>
              <a:rPr lang="en-US" b="true" sz="9015" spc="-180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3/3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487732" y="3848060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48075" y="3674034"/>
            <a:ext cx="3176886" cy="125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조기 복구 오류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(적을수록 좋음)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10855" y="3412019"/>
            <a:ext cx="176053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0"/>
              </a:lnSpc>
            </a:pPr>
            <a:r>
              <a:rPr lang="en-US" b="true" sz="9015" spc="-180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0/3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3694" y="5571476"/>
            <a:ext cx="1970441" cy="125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재발 안내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(많을수록 좋음)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04410" y="5309685"/>
            <a:ext cx="176053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0"/>
              </a:lnSpc>
            </a:pPr>
            <a:r>
              <a:rPr lang="en-US" b="true" sz="9015" spc="-180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0/3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487732" y="5783021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160139" y="5571476"/>
            <a:ext cx="1970441" cy="125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재발 안내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(많을수록 좋음)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10855" y="5309685"/>
            <a:ext cx="176053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0"/>
              </a:lnSpc>
            </a:pPr>
            <a:r>
              <a:rPr lang="en-US" b="true" sz="9015" spc="-180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3/3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7334250"/>
            <a:ext cx="16192500" cy="37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0"/>
              </a:lnSpc>
              <a:spcBef>
                <a:spcPct val="0"/>
              </a:spcBef>
            </a:pPr>
            <a:r>
              <a:rPr lang="en-US" sz="2475" spc="-49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10/21 버그 수정 후 검증은 별도 진행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9250" y="8029575"/>
            <a:ext cx="3905250" cy="83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7"/>
              </a:lnSpc>
              <a:spcBef>
                <a:spcPct val="0"/>
              </a:spcBef>
            </a:pPr>
            <a:r>
              <a:rPr lang="en-US" sz="2324" spc="-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추가 회귀 검사 포함</a:t>
            </a:r>
          </a:p>
          <a:p>
            <a:pPr algn="l" marL="0" indent="0" lvl="0">
              <a:lnSpc>
                <a:spcPts val="3487"/>
              </a:lnSpc>
              <a:spcBef>
                <a:spcPct val="0"/>
              </a:spcBef>
            </a:pPr>
            <a:r>
              <a:rPr lang="en-US" sz="2324" spc="-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77개 통과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654842" y="7925691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847617" y="8038177"/>
            <a:ext cx="3818919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2311" spc="-46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실제 제공 API 진단</a:t>
            </a:r>
          </a:p>
          <a:p>
            <a:pPr algn="ctr">
              <a:lnSpc>
                <a:spcPts val="3467"/>
              </a:lnSpc>
            </a:pPr>
            <a:r>
              <a:rPr lang="en-US" b="true" sz="2311" spc="-46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POST 3건 · SSE 1건 검증 통과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747196" y="7925691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049959" y="8038177"/>
            <a:ext cx="2310384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7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고정 시나리오 결과</a:t>
            </a:r>
          </a:p>
          <a:p>
            <a:pPr algn="l" marL="0" indent="0" lvl="0">
              <a:lnSpc>
                <a:spcPts val="3467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일반 정확도와 구분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14375"/>
            <a:ext cx="1619250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78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조사 이력과 보고서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190750"/>
            <a:ext cx="16668750" cy="39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625" spc="-78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기록을 남겨 이전 상태와 비교하고, 복구 이후 재발까지 설명합니다.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8250" y="3190875"/>
            <a:ext cx="4857750" cy="49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b="true" sz="3300" spc="-98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상태 변화의 흐름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8250" y="4010025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부분 회복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250" y="4629150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복구 확인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250" y="5248275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다시 이상이면 재발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68250" y="6677025"/>
            <a:ext cx="4857750" cy="84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Markdown 보고서로</a:t>
            </a:r>
          </a:p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근거·판정을 전달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2000" y="9563100"/>
            <a:ext cx="16764000" cy="29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0"/>
              </a:lnSpc>
              <a:spcBef>
                <a:spcPct val="0"/>
              </a:spcBef>
            </a:pPr>
            <a:r>
              <a:rPr lang="en-US" sz="1874" spc="-55" strike="noStrike" u="none">
                <a:solidFill>
                  <a:srgbClr val="B7C8D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이력 조회 화면 · 대화·서비스별 저장 · 보고서는 저장 자료를 사용</a:t>
            </a:r>
          </a:p>
        </p:txBody>
      </p:sp>
      <p:sp>
        <p:nvSpPr>
          <p:cNvPr name="Freeform 11" id="11" descr="브라우저 조사 이력 버튼으로 장애 지속·부분 회복·복구 확인·재발 4건을 조회한 실제 화면"/>
          <p:cNvSpPr/>
          <p:nvPr/>
        </p:nvSpPr>
        <p:spPr>
          <a:xfrm flipH="false" flipV="false" rot="0">
            <a:off x="666750" y="3333750"/>
            <a:ext cx="11620500" cy="5227606"/>
          </a:xfrm>
          <a:custGeom>
            <a:avLst/>
            <a:gdLst/>
            <a:ahLst/>
            <a:cxnLst/>
            <a:rect r="r" b="b" t="t" l="l"/>
            <a:pathLst>
              <a:path h="5227606" w="11620500">
                <a:moveTo>
                  <a:pt x="0" y="0"/>
                </a:moveTo>
                <a:lnTo>
                  <a:pt x="11620500" y="0"/>
                </a:lnTo>
                <a:lnTo>
                  <a:pt x="11620500" y="5227606"/>
                </a:lnTo>
                <a:lnTo>
                  <a:pt x="0" y="5227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3" t="0" r="-123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한계와 다음 단계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3133725"/>
            <a:ext cx="5143500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599" spc="-72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합성 데이터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4429125"/>
            <a:ext cx="4953000" cy="7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운영 복구는 미확인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다음: 실제 지표·서비스별 기준 연결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62750" y="3133725"/>
            <a:ext cx="5143500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pc="-72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신중한 복구 판정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3000" y="3133725"/>
            <a:ext cx="5143500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pc="-72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코드 기반 정책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3000" y="4429125"/>
            <a:ext cx="4953000" cy="7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일관된 판정 ↔ 제한된 진단 범위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다음: 서비스별 정책 세분화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7048500"/>
            <a:ext cx="11430000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3032" spc="-60" strike="noStrike" u="non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LangSmith 추적 미검증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7620000"/>
            <a:ext cx="14763750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4"/>
              </a:lnSpc>
              <a:spcBef>
                <a:spcPct val="0"/>
              </a:spcBef>
            </a:pPr>
            <a:r>
              <a:rPr lang="en-US" sz="2311" spc="-46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관련 서비스·배포 이력 연계는 미구현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8867775"/>
            <a:ext cx="1714500" cy="276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39" b="tru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코드 저장소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57500" y="8858250"/>
            <a:ext cx="13811250" cy="30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099" spc="-42" strike="noStrike" u="none">
                <a:solidFill>
                  <a:srgbClr val="B9D8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https://github.com/likefool1714/ai-miniproject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62750" y="4429125"/>
            <a:ext cx="4953000" cy="7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정상 2회 · 최소 5초 간격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성급한 확정 감소 ↔ 확인 지연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DAHYoVCIzKU</dc:identifier>
  <dcterms:modified xsi:type="dcterms:W3CDTF">2011-08-01T06:04:30Z</dcterms:modified>
  <cp:revision>1</cp:revision>
  <dc:title>운영 장애 대응 에이전트 · 실제 화면 비교 발표</dc:title>
</cp:coreProperties>
</file>