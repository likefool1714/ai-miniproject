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a0805e09b14de6" /><Relationship Type="http://schemas.openxmlformats.org/officeDocument/2006/relationships/extended-properties" Target="/docProps/app.xml" Id="R95dc3a0de47e4e0c" /><Relationship Type="http://schemas.openxmlformats.org/officeDocument/2006/relationships/officeDocument" Target="/ppt/presentation.xml" Id="Ra49ff602d1cd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463f66ec0f4289"/>
  </p:sldMasterIdLst>
  <p:notesMasterIdLst>
    <p:notesMasterId xmlns:r="http://schemas.openxmlformats.org/officeDocument/2006/relationships" r:id="Rd1b9ca4f48a645ea"/>
  </p:notesMasterIdLst>
  <p:sldIdLst>
    <p:sldId xmlns:r="http://schemas.openxmlformats.org/officeDocument/2006/relationships" id="256" r:id="R7f1edd1babf54fd7"/>
    <p:sldId xmlns:r="http://schemas.openxmlformats.org/officeDocument/2006/relationships" id="257" r:id="R378cf72a411849c9"/>
    <p:sldId xmlns:r="http://schemas.openxmlformats.org/officeDocument/2006/relationships" id="258" r:id="Rbcf1fd374ce34c89"/>
    <p:sldId xmlns:r="http://schemas.openxmlformats.org/officeDocument/2006/relationships" id="259" r:id="R594165201f1f4f4b"/>
    <p:sldId xmlns:r="http://schemas.openxmlformats.org/officeDocument/2006/relationships" id="260" r:id="R949d7342b15b4017"/>
    <p:sldId xmlns:r="http://schemas.openxmlformats.org/officeDocument/2006/relationships" id="261" r:id="R98e2a8dbbfab44fe"/>
    <p:sldId xmlns:r="http://schemas.openxmlformats.org/officeDocument/2006/relationships" id="262" r:id="R15791e183e7a447e"/>
    <p:sldId xmlns:r="http://schemas.openxmlformats.org/officeDocument/2006/relationships" id="263" r:id="R503808a48f4e48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30612509e640bc" /><Relationship Type="http://schemas.openxmlformats.org/officeDocument/2006/relationships/slideMaster" Target="/ppt/slideMasters/slideMaster1.xml" Id="R94463f66ec0f4289" /><Relationship Type="http://schemas.openxmlformats.org/officeDocument/2006/relationships/notesMaster" Target="/ppt/notesMasters/notesMaster1.xml" Id="Rd1b9ca4f48a645ea" /><Relationship Type="http://schemas.openxmlformats.org/officeDocument/2006/relationships/presProps" Target="/ppt/presProps.xml" Id="R0cef9116e5534a4d" /><Relationship Type="http://schemas.openxmlformats.org/officeDocument/2006/relationships/tableStyles" Target="/ppt/tableStyles.xml" Id="R2ba94214fd8c4dfa" /><Relationship Type="http://schemas.openxmlformats.org/officeDocument/2006/relationships/slide" Target="/ppt/slides/slide1.xml" Id="R7f1edd1babf54fd7" /><Relationship Type="http://schemas.openxmlformats.org/officeDocument/2006/relationships/slide" Target="/ppt/slides/slide2.xml" Id="R378cf72a411849c9" /><Relationship Type="http://schemas.openxmlformats.org/officeDocument/2006/relationships/slide" Target="/ppt/slides/slide3.xml" Id="Rbcf1fd374ce34c89" /><Relationship Type="http://schemas.openxmlformats.org/officeDocument/2006/relationships/slide" Target="/ppt/slides/slide4.xml" Id="R594165201f1f4f4b" /><Relationship Type="http://schemas.openxmlformats.org/officeDocument/2006/relationships/slide" Target="/ppt/slides/slide5.xml" Id="R949d7342b15b4017" /><Relationship Type="http://schemas.openxmlformats.org/officeDocument/2006/relationships/slide" Target="/ppt/slides/slide6.xml" Id="R98e2a8dbbfab44fe" /><Relationship Type="http://schemas.openxmlformats.org/officeDocument/2006/relationships/slide" Target="/ppt/slides/slide7.xml" Id="R15791e183e7a447e" /><Relationship Type="http://schemas.openxmlformats.org/officeDocument/2006/relationships/slide" Target="/ppt/slides/slide8.xml" Id="R503808a48f4e48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7ccb3438c4d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e990bdf924b39" /><Relationship Type="http://schemas.openxmlformats.org/officeDocument/2006/relationships/notesMaster" Target="/ppt/notesMasters/notesMaster1.xml" Id="R7b475ba54601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3cc97d90524da6" /><Relationship Type="http://schemas.openxmlformats.org/officeDocument/2006/relationships/notesMaster" Target="/ppt/notesMasters/notesMaster1.xml" Id="Rc0eed11b7c0541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1b92e607a44d64" /><Relationship Type="http://schemas.openxmlformats.org/officeDocument/2006/relationships/notesMaster" Target="/ppt/notesMasters/notesMaster1.xml" Id="Ra986197c1b2844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62cb48dbea4de0" /><Relationship Type="http://schemas.openxmlformats.org/officeDocument/2006/relationships/notesMaster" Target="/ppt/notesMasters/notesMaster1.xml" Id="R1ae5726a1d0a48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7ec01247104c38" /><Relationship Type="http://schemas.openxmlformats.org/officeDocument/2006/relationships/notesMaster" Target="/ppt/notesMasters/notesMaster1.xml" Id="R9ae96b12033d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5668abed924075" /><Relationship Type="http://schemas.openxmlformats.org/officeDocument/2006/relationships/notesMaster" Target="/ppt/notesMasters/notesMaster1.xml" Id="R812c4c24c8a247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59332c97074a80" /><Relationship Type="http://schemas.openxmlformats.org/officeDocument/2006/relationships/notesMaster" Target="/ppt/notesMasters/notesMaster1.xml" Id="R048097486ab947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ae9caba9454734" /><Relationship Type="http://schemas.openxmlformats.org/officeDocument/2006/relationships/notesMaster" Target="/ppt/notesMasters/notesMaster1.xml" Id="R9788b0716dd44b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정상 수치 한 번으로 복구를 확정하는 문제 — 40초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안녕하세요. 과제 1번으로 운영 장애 대응 에이전트의 상태 비교와 복구 확인 기능을 개선한 G028 최민석입니다.</a:t>
            </a:r>
          </a:p>
          <a:p xmlns:a="http://schemas.openxmlformats.org/drawingml/2006/main">
            <a:r>
              <a:t>제공된 에이전트는 모니터링 수치를 조회하고 런북을 참고해 대응 방법을 설명합니다.</a:t>
            </a:r>
          </a:p>
          <a:p xmlns:a="http://schemas.openxmlformats.org/drawingml/2006/main">
            <a:r>
              <a:t>하지만 현재 수치가 정상이라는 것과 장애가 안정적으로 회복됐다는 것은 구분할 필요가 있었습니다.</a:t>
            </a:r>
          </a:p>
          <a:p xmlns:a="http://schemas.openxmlformats.org/drawingml/2006/main">
            <a:r>
              <a:t>고정 시나리오에서 원본은 정상 관측 한 번만으로 복구를 확정했습니다.</a:t>
            </a:r>
          </a:p>
          <a:p xmlns:a="http://schemas.openxmlformats.org/drawingml/2006/main">
            <a:r>
              <a:t>그래서 이전 조사 기록과 연속 관측을 사용해 복구 판단의 근거를 남기도록 개선했습니다.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화면: 정상 1회에서 원본과 개선 응답 비교. 출처: `results/recovery-2026-10-20/`, `results/qa-comparison-2026-10-21/`.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results/recovery-2026-10-20/manual-review.json, responses.json. 원본 d1043ff, 로컬 Ollama와 고정 합성 관측을 사용한 3회 비교. 실제 운영 복구 정확도를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모니터링 조회에서 판단·설명까지의 흐름 — 40초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사용자가 결제 서비스 장애를 질문하면 먼저 조사 대상을 확인합니다.</a:t>
            </a:r>
          </a:p>
          <a:p xmlns:a="http://schemas.openxmlformats.org/drawingml/2006/main">
            <a:r>
              <a:t>기존 MCP Tool로 모니터링을 조회하고 Resource로 대응 매뉴얼인 런북을 읽습니다.</a:t>
            </a:r>
          </a:p>
          <a:p xmlns:a="http://schemas.openxmlformats.org/drawingml/2006/main">
            <a:r>
              <a:t>제가 추가한 저장소는 대화와 서비스별로 관측을 기록합니다.</a:t>
            </a:r>
          </a:p>
          <a:p xmlns:a="http://schemas.openxmlformats.org/drawingml/2006/main">
            <a:r>
              <a:t>이전 관측과 비교한 뒤 코드가 복구 정책을 계산합니다.</a:t>
            </a:r>
          </a:p>
          <a:p xmlns:a="http://schemas.openxmlformats.org/drawingml/2006/main">
            <a:r>
              <a:t>LLM은 조사 계획과 원인 후보·런북 항목 선택에 사용합니다.</a:t>
            </a:r>
          </a:p>
          <a:p xmlns:a="http://schemas.openxmlformats.org/drawingml/2006/main">
            <a:r>
              <a:t>선택한 내용이 실제 근거와 맞는지는 코드가 검사하고, 검증한 수치와 점검 방향을 답변으로 구성합니다.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화면: 기존 구성과 추가 모듈을 나눈 처리 순서. 핵심 파일: `recovery_nodes.py`, `recovery_store.py`, `recovery.py`, `grounding.py`.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agent/recovery_nodes.py, recovery_store.py, recovery.py, grounding.py, graph.py. 기존 Supervisor/MCP/모델 백엔드/Vue/SSE/DI/대화 저장은 제공 코드 재사용. 새로운 구조화 관측 저장·정책·검증을 추가했습니다.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이전 상태와 연속 관측으로 복구 판단 — 70초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예시는 실제 운영 서버가 아닌 합성 모니터링 시나리오입니다.</a:t>
            </a:r>
          </a:p>
          <a:p xmlns:a="http://schemas.openxmlformats.org/drawingml/2006/main">
            <a:r>
              <a:t>첫 관측은 CPU 95%, 메모리 90%로 장애가 지속됩니다.</a:t>
            </a:r>
          </a:p>
          <a:p xmlns:a="http://schemas.openxmlformats.org/drawingml/2006/main">
            <a:r>
              <a:t>다음 관측에서 CPU가 65%로 떨어져도 메모리는 87%이고 알림이 남아 있어 부분 회복입니다.</a:t>
            </a:r>
          </a:p>
          <a:p xmlns:a="http://schemas.openxmlformats.org/drawingml/2006/main">
            <a:r>
              <a:t>그다음 CPU 55%, 메모리 60%로 정상 조건을 만족하더라도 정상 관측이 한 번뿐이라 복구를 확정하지 않습니다.</a:t>
            </a:r>
          </a:p>
          <a:p xmlns:a="http://schemas.openxmlformats.org/drawingml/2006/main">
            <a:r>
              <a:t>최소 5초 이상 떨어진 새 관측에서도 정상 조건을 만족하면 정상 두 번으로 복구를 확인합니다.</a:t>
            </a:r>
          </a:p>
          <a:p xmlns:a="http://schemas.openxmlformats.org/drawingml/2006/main">
            <a:r>
              <a:t>같은 관측을 반복 조회하는 것은 정상 횟수에 포함하지 않습니다.</a:t>
            </a:r>
          </a:p>
          <a:p xmlns:a="http://schemas.openxmlformats.org/drawingml/2006/main">
            <a:r>
              <a:t>자료가 오래됐거나 조회에 실패한 경우에도 판단을 보류합니다.</a:t>
            </a:r>
          </a:p>
          <a:p xmlns:a="http://schemas.openxmlformats.org/drawingml/2006/main">
            <a:r>
              <a:t>또 숫자만 나열하지 않도록, 남아 있는 문제와 추가로 확인할 조건을 설명했습니다.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화면: 실제 앱의 정상 1회 보류 응답과 다음 정상 관측. 출처: `results/explanation-2026-10-21/app-recheck.jpg`, 최신 실행 원문 `results/status-2026-10-21/live-check.json`.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data/recovery_policy.json, agent/recovery.py. results/status-2026-10-21/live-check.json 및 results/api-2026-10-21/web-responses.json. 관측 시각 10초 간격은 합성 데이터이며 실제 측정 대기 시간이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근거 설명과 사용 기능 추가 — 40초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진단 답변에는 수치의 의미와 가능한 원인·점검 방향을 함께 설명했습니다.</a:t>
            </a:r>
          </a:p>
          <a:p xmlns:a="http://schemas.openxmlformats.org/drawingml/2006/main">
            <a:r>
              <a:t>CPU 부하나 메모리 압박을 점검할 근거는 제시하되, 실제 조회하지 않은 로그를 분석했다거나 원인이 확정됐다고 쓰지 않습니다.</a:t>
            </a:r>
          </a:p>
          <a:p xmlns:a="http://schemas.openxmlformats.org/drawingml/2006/main">
            <a:r>
              <a:t>“그 서비스 다시 확인해줘”는 이전 대상을 이어받아 새 관측을 조회합니다.</a:t>
            </a:r>
          </a:p>
          <a:p xmlns:a="http://schemas.openxmlformats.org/drawingml/2006/main">
            <a:r>
              <a:t>추가한 사용 기능은 조사 이력·상태 변화 비교·복구 재점검·재발 감지·Markdown 보고서입니다.</a:t>
            </a:r>
          </a:p>
          <a:p xmlns:a="http://schemas.openxmlformats.org/drawingml/2006/main">
            <a:r>
              <a:t>기존 대화 저장을 재사용하고 서비스 관측과 판정 기록을 추가했습니다.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화면: 수치 해석·점검 방향·조건부 조치 예시와 추가 기능 목록.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agent/grounding.py: validate_draft, render_answer. agent/recovery.py: explain_assessment. results/api-2026-10-21/web-responses.json. 모델은 근거 ID·원인 분류·런북 항목을 선택하고, 코드는 검증한 관측과 사전 검토한 런북 해설로 설명합니다. 로그·배포·힙 자료를 실제 조회한 기능은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같은 관측을 사용한 개선 전후 비교 — 70초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비교에서는 같은 질문과 다섯 단계 관측을 원본과 개선 코드에 넣고 세 번 반복했습니다.</a:t>
            </a:r>
          </a:p>
          <a:p xmlns:a="http://schemas.openxmlformats.org/drawingml/2006/main">
            <a:r>
              <a:t>정상 한 번으로 조기 복구를 확정한 경우는 원본 세 번에서 개선 후 영 번으로 줄었습니다.</a:t>
            </a:r>
          </a:p>
          <a:p xmlns:a="http://schemas.openxmlformats.org/drawingml/2006/main">
            <a:r>
              <a:t>복구 후 재발을 명시한 경우는 영 번에서 세 번으로 늘었습니다.</a:t>
            </a:r>
          </a:p>
          <a:p xmlns:a="http://schemas.openxmlformats.org/drawingml/2006/main">
            <a:r>
              <a:t>이는 제한된 고정 시나리오의 결과이며 전체 장애 진단 정확도는 아닙니다.</a:t>
            </a:r>
          </a:p>
          <a:p xmlns:a="http://schemas.openxmlformats.org/drawingml/2006/main">
            <a:r>
              <a:t>이후 로컬 웹·MCP·Ollama 경로에서도 세 주기의 열다섯 상태 판정이 기대 결과와 일치했습니다.</a:t>
            </a:r>
          </a:p>
          <a:p xmlns:a="http://schemas.openxmlformats.org/drawingml/2006/main">
            <a:r>
              <a:t>제공 API로 전환한 검사에서는 일반 진단 POST 세 건과 SSE 한 건이 근거 검증을 통과했습니다. 복구 다섯 단계와 이력·보고서도 확인했습니다.</a:t>
            </a:r>
          </a:p>
          <a:p xmlns:a="http://schemas.openxmlformats.org/drawingml/2006/main">
            <a:r>
              <a:t>추가로 자동 검사 67개와 정상 조건 조합 392개를 확인했습니다. 자동 검사의 모델은 모의 객체이며 실제 LLM 실행과 구분했습니다.</a:t>
            </a:r>
          </a:p>
          <a:p xmlns:a="http://schemas.openxmlformats.org/drawingml/2006/main">
            <a:r>
              <a:t>후속 복구는 LLM을 생략하므로, 빠른 응답을 모델 추론 자체의 속도 개선이라고 주장하지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화면: 조기 복구 3/3 대 0/3, 재발 명시 0/3 대 3/3의 비교 표. 검사 수는 작은 보조 문구로 표시.</a:t>
            </a:r>
          </a:p>
          <a:p xmlns:a="http://schemas.openxmlformats.org/drawingml/2006/main">
            <a:r>
              <a:t>출처: `results/recovery-2026-10-20/`, `results/revalidation-2026-10-21/README.md`.</a:t>
            </a:r>
          </a:p>
          <a:p xmlns:a="http://schemas.openxmlformats.org/drawingml/2006/main">
            <a:r>
              <a:t>실제 API 근거: `results/api-2026-10-21/README.md`. 원본/개선 비교와 API 호환 검사는 별도다.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Before/After: results/recovery-2026-10-20/manual-review.json, summary.json. 실제 API: results/api-2026-10-21/connection.json, web-summary.json, web-responses.json, sse-events.json. 로컬 전체 재검증: results/revalidation-2026-10-21/README.md. 원본/개선은 같은 질문·5단계 고정 관측·고정 시계로 3회 반복, 실제 API는 별도의 호환 검사입니다. 표본을 합산하지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정책 의존성과 실제 운영 적용의 한계 — 40초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정상 두 번과 관측 간격을 요구하면 일시적 정상화에 신중해지는 대신 복구 확인이 늦어집니다.</a:t>
            </a:r>
          </a:p>
          <a:p xmlns:a="http://schemas.openxmlformats.org/drawingml/2006/main">
            <a:r>
              <a:t>임계값과 횟수는 교육용 정책이므로 실제 적용 시 서비스별 기준으로 조정해야 합니다.</a:t>
            </a:r>
          </a:p>
          <a:p xmlns:a="http://schemas.openxmlformats.org/drawingml/2006/main">
            <a:r>
              <a:t>합성 데이터로 기능을 검증했기 때문에 실제 결제 성공이나 근본 원인 제거를 증명하지는 않습니다.</a:t>
            </a:r>
          </a:p>
          <a:p xmlns:a="http://schemas.openxmlformats.org/drawingml/2006/main">
            <a:r>
              <a:t>근거 검증 역시 확보한 자료와 답변의 일관성을 검사하는 범위입니다.</a:t>
            </a:r>
          </a:p>
          <a:p xmlns:a="http://schemas.openxmlformats.org/drawingml/2006/main">
            <a:r>
              <a:t>추후 실제 지표와 서비스별 기준을 연결하고, 필요한 경우 관련 서비스 조사나 변경 이력을 확장할 수 있습니다.</a:t>
            </a:r>
          </a:p>
          <a:p xmlns:a="http://schemas.openxmlformats.org/drawingml/2006/main">
            <a:r>
              <a:t>이 후보들은 현재 구현 기능과 구분했습니다.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발표 자료 사용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본문 1~6장을 약 5분으로 발표하고 참고 7~8장은 질문이 있을 때 연다.</a:t>
            </a:r>
          </a:p>
          <a:p xmlns:a="http://schemas.openxmlformats.org/drawingml/2006/main">
            <a:r>
              <a:t>- API는 모델 `gpt-4o-mini` / `gpt-4o`로 실제 확인했다. LangSmith는 미검증으로 설명한다.</a:t>
            </a:r>
          </a:p>
          <a:p xmlns:a="http://schemas.openxmlformats.org/drawingml/2006/main">
            <a:r>
              <a:t>- 보조 수치와 긴 코드 설명은 발표자 노트·DEFENSE_GUIDE에서 확인한다.</a:t>
            </a:r>
          </a:p>
          <a:p xmlns:a="http://schemas.openxmlformats.org/drawingml/2006/main">
            <a:r>
              <a:t>- 첫 연습에서 5분을 넘으면 검사 수의 상세 설명을 줄이고 핵심 전후 비교와 한계를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발표 직전 기억할 답변 네 가지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왜 규칙으로 판단하나요? 같은 수치에 대한 복구 판단을 일정하게 유지하려는 선택입니다. LLM은 계획과 진단 항목 선택에 사용합니다.</a:t>
            </a:r>
          </a:p>
          <a:p xmlns:a="http://schemas.openxmlformats.org/drawingml/2006/main">
            <a:r>
              <a:t>2. 정상 2회는 표준인가요? 교육용 정책입니다. 횟수를 늘리면 신중해지지만 확인이 늦어집니다.</a:t>
            </a:r>
          </a:p>
          <a:p xmlns:a="http://schemas.openxmlformats.org/drawingml/2006/main">
            <a:r>
              <a:t>3. MCP를 새로 만들었나요? 제공 MCP 연결과 기능을 재사용하고 새 관측·이력·판정 흐름을 연결했습니다.</a:t>
            </a:r>
          </a:p>
          <a:p xmlns:a="http://schemas.openxmlformats.org/drawingml/2006/main">
            <a:r>
              <a:t>4. 전부 정확한가요? 제한된 관측과 런북의 일관성을 확인합니다. 근본 원인과 모든 자연어 사실을 보장하지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docs/TRADEOFFS.md, docs/FEATURE_REVIEW.md, results/api-2026-10-21/README.md. LangSmith 실제 추적은 미검증이며 구현 완료로 설명하지 않습니다. 서비스 연관 조사·배포 이력 연계는 미구현 후보입니다.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질문이 있을 때만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docs/DEFENSE_GUIDE.md와 각 모듈. 실제 API 검사 시 모델은 fast=gpt-4o-mini, quality=gpt-4o. 최초 일반 진단 4.62초는 단일 요청의 관측값이며 로컬 9.96초 중앙값과 동일 조건 성능 비교가 아닙니다. 복구 재점검에는 LLM을 호출하지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질문이 있을 때만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results/api-2026-10-21/app-normal-once.jpg. 실제 Chrome 앱 화면. 상단 openai:gpt-4o-mini/openai:gpt-4o 표시. 정상 1회는 부분 회복으로 보류하고 다음 정상 관측에서 복구 확인했습니다. 자동 검사와 별도로 수행한 수동 브라우저 흐름입니다.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7866398c340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4fbd7aacc49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480154a4746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40e2a9cd847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9426e6a994f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f516d3b3542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E310C4-50F3-4867-A550-C33E04050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837705-08A7-4EEA-A334-D5D6F5225A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06978E-DA07-4712-9888-8132F3195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533BB9-0BCF-4B2A-966D-B059CD113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C5ABA2-DCA2-4276-847C-3F3DF2D906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860F93-D025-4850-AA55-7478D660F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9F9360-67DB-495A-9D7C-D97A1B01D8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E7AE46-F2EC-45F6-844A-A8E7B473AE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73D65C-FD17-47EE-B4B1-2EC3D1287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B59FE0-C869-4A91-AE28-103D4AA2D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ce1e6221b343f1" /><Relationship Type="http://schemas.openxmlformats.org/officeDocument/2006/relationships/slideLayout" Target="/ppt/slideLayouts/slideLayout1.xml" Id="R594b14a978f64590" /><Relationship Type="http://schemas.openxmlformats.org/officeDocument/2006/relationships/slideLayout" Target="/ppt/slideLayouts/slideLayout2.xml" Id="Rdb3812c471b24979" /><Relationship Type="http://schemas.openxmlformats.org/officeDocument/2006/relationships/slideLayout" Target="/ppt/slideLayouts/slideLayout3.xml" Id="Re8d976e43f5f4fa6" /><Relationship Type="http://schemas.openxmlformats.org/officeDocument/2006/relationships/slideLayout" Target="/ppt/slideLayouts/slideLayout4.xml" Id="Re15877b307a74638" /><Relationship Type="http://schemas.openxmlformats.org/officeDocument/2006/relationships/slideLayout" Target="/ppt/slideLayouts/slideLayout5.xml" Id="R95db80fc8e8b4d95" /><Relationship Type="http://schemas.openxmlformats.org/officeDocument/2006/relationships/slideLayout" Target="/ppt/slideLayouts/slideLayout6.xml" Id="Rc87cf5456a9c42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4b14a978f64590"/>
    <p:sldLayoutId xmlns:r="http://schemas.openxmlformats.org/officeDocument/2006/relationships" id="2147483650" r:id="Rdb3812c471b24979"/>
    <p:sldLayoutId xmlns:r="http://schemas.openxmlformats.org/officeDocument/2006/relationships" id="2147483651" r:id="Re8d976e43f5f4fa6"/>
    <p:sldLayoutId xmlns:r="http://schemas.openxmlformats.org/officeDocument/2006/relationships" id="2147483652" r:id="Re15877b307a74638"/>
    <p:sldLayoutId xmlns:r="http://schemas.openxmlformats.org/officeDocument/2006/relationships" id="2147483653" r:id="R95db80fc8e8b4d95"/>
    <p:sldLayoutId xmlns:r="http://schemas.openxmlformats.org/officeDocument/2006/relationships" id="2147483654" r:id="Rc87cf5456a9c42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b321654af4847" /><Relationship Type="http://schemas.openxmlformats.org/officeDocument/2006/relationships/notesSlide" Target="/ppt/notesSlides/notesSlide1.xml" Id="R9c1520fd73ba40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a33a6d12a4561" /><Relationship Type="http://schemas.openxmlformats.org/officeDocument/2006/relationships/notesSlide" Target="/ppt/notesSlides/notesSlide2.xml" Id="Rcb0ff9e200ac4e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77e0dbe1f4dde" /><Relationship Type="http://schemas.openxmlformats.org/officeDocument/2006/relationships/notesSlide" Target="/ppt/notesSlides/notesSlide3.xml" Id="R7ac95a4191204a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b9b53ad474165" /><Relationship Type="http://schemas.openxmlformats.org/officeDocument/2006/relationships/notesSlide" Target="/ppt/notesSlides/notesSlide4.xml" Id="R7f5fa0e401da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599e650ce4391" /><Relationship Type="http://schemas.openxmlformats.org/officeDocument/2006/relationships/notesSlide" Target="/ppt/notesSlides/notesSlide5.xml" Id="Rf72ed0643b4841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0d8bba2bc4a68" /><Relationship Type="http://schemas.openxmlformats.org/officeDocument/2006/relationships/notesSlide" Target="/ppt/notesSlides/notesSlide6.xml" Id="R9b0294c7cb934d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5b8d77754499b" /><Relationship Type="http://schemas.openxmlformats.org/officeDocument/2006/relationships/notesSlide" Target="/ppt/notesSlides/notesSlide7.xml" Id="R1f0a33fd1bb74b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3aa644b634f66" /><Relationship Type="http://schemas.openxmlformats.org/officeDocument/2006/relationships/image" Target="/ppt/media/image.jpeg" Id="R7a8168d57cd74e84" /><Relationship Type="http://schemas.openxmlformats.org/officeDocument/2006/relationships/notesSlide" Target="/ppt/notesSlides/notesSlide8.xml" Id="R577aa97d0c8244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-0">
            <a:extLst xmlns:a="http://schemas.openxmlformats.org/drawingml/2006/main">
              <a:ext uri="{FF2B5EF4-FFF2-40B4-BE49-F238E27FC236}">
                <a16:creationId xmlns:a16="http://schemas.microsoft.com/office/drawing/2014/main" id="{539809B9-B455-4ABF-A279-C619D9AC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운영 장애 대응 에이전트 개선</a:t>
            </a:r>
          </a:p>
        </p:txBody>
      </p:sp>
      <p:sp>
        <p:nvSpPr>
          <p:cNvPr id="2" name="text-1-1">
            <a:extLst xmlns:a="http://schemas.openxmlformats.org/drawingml/2006/main">
              <a:ext uri="{FF2B5EF4-FFF2-40B4-BE49-F238E27FC236}">
                <a16:creationId xmlns:a16="http://schemas.microsoft.com/office/drawing/2014/main" id="{7AF58B92-5447-4A99-9F39-03C5D39F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1 / 6</a:t>
            </a:r>
          </a:p>
        </p:txBody>
      </p:sp>
      <p:sp>
        <p:nvSpPr>
          <p:cNvPr id="3" name="text-1-2">
            <a:extLst xmlns:a="http://schemas.openxmlformats.org/drawingml/2006/main">
              <a:ext uri="{FF2B5EF4-FFF2-40B4-BE49-F238E27FC236}">
                <a16:creationId xmlns:a16="http://schemas.microsoft.com/office/drawing/2014/main" id="{1FEEA63D-786E-4A07-9AE5-9E38CBDE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정상 수치 한 번으로 복구를 확정하는 문제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7A323-13FC-4271-AC79-04B705C5E5B7}"/>
              </a:ext>
            </a:extLst>
          </p:cNvPr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29250"/>
                <a:gridCol w="54292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응답에서 확인한 문제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개선의 판단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관측 1회에 “복구 완료”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장애와 연속 정상 관측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변화·안정성 근거가 부족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수치 변화와 보류 이유를 함께 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1-3">
            <a:extLst xmlns:a="http://schemas.openxmlformats.org/drawingml/2006/main">
              <a:ext uri="{FF2B5EF4-FFF2-40B4-BE49-F238E27FC236}">
                <a16:creationId xmlns:a16="http://schemas.microsoft.com/office/drawing/2014/main" id="{3A7271D5-0AA3-484D-8299-B2490BC7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원본의 조기 복구 확정: 고정 시나리오 3/3건</a:t>
            </a:r>
          </a:p>
        </p:txBody>
      </p:sp>
      <p:sp>
        <p:nvSpPr>
          <p:cNvPr id="6" name="text-1-4">
            <a:extLst xmlns:a="http://schemas.openxmlformats.org/drawingml/2006/main">
              <a:ext uri="{FF2B5EF4-FFF2-40B4-BE49-F238E27FC236}">
                <a16:creationId xmlns:a16="http://schemas.microsoft.com/office/drawing/2014/main" id="{3A97B3CB-B002-4894-B697-B2D2712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과제 1번   G028 최민석   2026.10.22 발표</a:t>
            </a:r>
          </a:p>
        </p:txBody>
      </p:sp>
    </p:spTree>
    <p:extLst>
      <p:ext uri="{BB962C8B-B14F-4D97-AF65-F5344CB8AC3E}">
        <p14:creationId xmlns:p14="http://schemas.microsoft.com/office/powerpoint/2010/main" val="477785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-0">
            <a:extLst xmlns:a="http://schemas.openxmlformats.org/drawingml/2006/main">
              <a:ext uri="{FF2B5EF4-FFF2-40B4-BE49-F238E27FC236}">
                <a16:creationId xmlns:a16="http://schemas.microsoft.com/office/drawing/2014/main" id="{613282A2-0F5C-45DE-8251-BD698391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기존 구조와 직접 추가한 코드</a:t>
            </a:r>
          </a:p>
        </p:txBody>
      </p:sp>
      <p:sp>
        <p:nvSpPr>
          <p:cNvPr id="2" name="text-2-1">
            <a:extLst xmlns:a="http://schemas.openxmlformats.org/drawingml/2006/main">
              <a:ext uri="{FF2B5EF4-FFF2-40B4-BE49-F238E27FC236}">
                <a16:creationId xmlns:a16="http://schemas.microsoft.com/office/drawing/2014/main" id="{EF817734-5C9F-4F8E-915A-F71659EA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2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70027-0232-47CE-83B6-911F9E677216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76625"/>
                <a:gridCol w="7381875"/>
              </a:tblGrid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재사용·추가 범위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질문과 조사 대상 확인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추가: 이전 서비스 복원·대상 확인 질문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모니터링·런북 조회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재사용: MCP Tool·Resource·Prompt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저장·변화 비교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추가: 서비스 관측 이력과 변화량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복구·재발 판정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추가: 정책·연속 관측·자료 유효성 검사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진단 제안 검증·설명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추가: 근거·런북 항목 검사 후 설명 구성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-2">
            <a:extLst xmlns:a="http://schemas.openxmlformats.org/drawingml/2006/main">
              <a:ext uri="{FF2B5EF4-FFF2-40B4-BE49-F238E27FC236}">
                <a16:creationId xmlns:a16="http://schemas.microsoft.com/office/drawing/2014/main" id="{7A067D34-C979-454F-B151-40CBFE8C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LLM: 분류·계획·진단 항목 선택   코드: 수치·복구 판정·근거 검사</a:t>
            </a:r>
          </a:p>
        </p:txBody>
      </p:sp>
    </p:spTree>
    <p:extLst>
      <p:ext uri="{BB962C8B-B14F-4D97-AF65-F5344CB8AC3E}">
        <p14:creationId xmlns:p14="http://schemas.microsoft.com/office/powerpoint/2010/main" val="428134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-0">
            <a:extLst xmlns:a="http://schemas.openxmlformats.org/drawingml/2006/main">
              <a:ext uri="{FF2B5EF4-FFF2-40B4-BE49-F238E27FC236}">
                <a16:creationId xmlns:a16="http://schemas.microsoft.com/office/drawing/2014/main" id="{2FB4EB39-C37F-4993-B697-A14E8241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이전 상태와 연속 관측으로 복구 판단</a:t>
            </a:r>
          </a:p>
        </p:txBody>
      </p:sp>
      <p:sp>
        <p:nvSpPr>
          <p:cNvPr id="2" name="text-3-1">
            <a:extLst xmlns:a="http://schemas.openxmlformats.org/drawingml/2006/main">
              <a:ext uri="{FF2B5EF4-FFF2-40B4-BE49-F238E27FC236}">
                <a16:creationId xmlns:a16="http://schemas.microsoft.com/office/drawing/2014/main" id="{C064197C-F455-4F9A-B7F6-7D97737C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3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42DB2-5411-4172-B87C-48D0D525B6C8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1428750"/>
                <a:gridCol w="1619250"/>
                <a:gridCol w="1428750"/>
                <a:gridCol w="3810000"/>
              </a:tblGrid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순서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CPU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메모리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알림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정책 판정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 장애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장애 지속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 수치 개선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부분 회복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 정상 첫 관측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1회, 복구 보류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 정상 재관측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2회, 복구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 다시 이상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장애 지속·재발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-2">
            <a:extLst xmlns:a="http://schemas.openxmlformats.org/drawingml/2006/main">
              <a:ext uri="{FF2B5EF4-FFF2-40B4-BE49-F238E27FC236}">
                <a16:creationId xmlns:a16="http://schemas.microsoft.com/office/drawing/2014/main" id="{022BFF80-A9A9-4D71-87B0-5437AAF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정상 조건: healthy, CPU &lt;80%, 메모리 &lt;85%, 알림 0건</a:t>
            </a:r>
          </a:p>
        </p:txBody>
      </p:sp>
      <p:sp>
        <p:nvSpPr>
          <p:cNvPr id="5" name="text-3-3">
            <a:extLst xmlns:a="http://schemas.openxmlformats.org/drawingml/2006/main">
              <a:ext uri="{FF2B5EF4-FFF2-40B4-BE49-F238E27FC236}">
                <a16:creationId xmlns:a16="http://schemas.microsoft.com/office/drawing/2014/main" id="{5C54F3D0-9748-4367-A60A-518D2040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복구 확인: 최근 장애 이후 최소 5초 간격 정상 2회</a:t>
            </a:r>
          </a:p>
        </p:txBody>
      </p:sp>
      <p:sp>
        <p:nvSpPr>
          <p:cNvPr id="6" name="text-3-4">
            <a:extLst xmlns:a="http://schemas.openxmlformats.org/drawingml/2006/main">
              <a:ext uri="{FF2B5EF4-FFF2-40B4-BE49-F238E27FC236}">
                <a16:creationId xmlns:a16="http://schemas.microsoft.com/office/drawing/2014/main" id="{A06E4DE9-C7AE-435B-9394-3DBC4297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동일 관측은 중복 집계하지 않으며, 오래된 자료·조회 실패는 판단 보류</a:t>
            </a:r>
          </a:p>
        </p:txBody>
      </p:sp>
    </p:spTree>
    <p:extLst>
      <p:ext uri="{BB962C8B-B14F-4D97-AF65-F5344CB8AC3E}">
        <p14:creationId xmlns:p14="http://schemas.microsoft.com/office/powerpoint/2010/main" val="824651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-0">
            <a:extLst xmlns:a="http://schemas.openxmlformats.org/drawingml/2006/main">
              <a:ext uri="{FF2B5EF4-FFF2-40B4-BE49-F238E27FC236}">
                <a16:creationId xmlns:a16="http://schemas.microsoft.com/office/drawing/2014/main" id="{2F08795F-0541-4B5F-9DEA-41997FF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근거 설명과 사용 기능 추가</a:t>
            </a:r>
          </a:p>
        </p:txBody>
      </p:sp>
      <p:sp>
        <p:nvSpPr>
          <p:cNvPr id="2" name="text-4-1">
            <a:extLst xmlns:a="http://schemas.openxmlformats.org/drawingml/2006/main">
              <a:ext uri="{FF2B5EF4-FFF2-40B4-BE49-F238E27FC236}">
                <a16:creationId xmlns:a16="http://schemas.microsoft.com/office/drawing/2014/main" id="{F555DE78-8044-43F2-BCDA-BFDB6780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4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F344B-3746-402A-8630-B41986C52F33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71525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답변 구성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결제 서비스 진단 예시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수치의 의미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CPU 95%·메모리 90%로 정상 기준 이탈 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가능한 원인·점검 방향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호출·배치 중복, 메모리 추세·힙 자료 확인</a:t>
                      </a:r>
                    </a:p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원인은 미확정으로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조건에 따른 조치 안내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수치 조건과 지속 시간 조건을 구분</a:t>
                      </a:r>
                    </a:p>
                    <a:p>
                      <a:r>
                        <a:rPr sz="1950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재시작·확장은 미실행으로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4-2">
            <a:extLst xmlns:a="http://schemas.openxmlformats.org/drawingml/2006/main">
              <a:ext uri="{FF2B5EF4-FFF2-40B4-BE49-F238E27FC236}">
                <a16:creationId xmlns:a16="http://schemas.microsoft.com/office/drawing/2014/main" id="{944B5DE4-7BED-478F-8DDC-86C9D38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추가 기능</a:t>
            </a:r>
          </a:p>
        </p:txBody>
      </p:sp>
      <p:sp>
        <p:nvSpPr>
          <p:cNvPr id="5" name="text-4-3">
            <a:extLst xmlns:a="http://schemas.openxmlformats.org/drawingml/2006/main">
              <a:ext uri="{FF2B5EF4-FFF2-40B4-BE49-F238E27FC236}">
                <a16:creationId xmlns:a16="http://schemas.microsoft.com/office/drawing/2014/main" id="{95B31F4E-5F7B-4DA3-8EB9-5EFD68F2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조사 이력 저장·조회, 변화량 비교, 새 관측으로 복구 재점검</a:t>
            </a:r>
          </a:p>
        </p:txBody>
      </p:sp>
      <p:sp>
        <p:nvSpPr>
          <p:cNvPr id="6" name="text-4-4">
            <a:extLst xmlns:a="http://schemas.openxmlformats.org/drawingml/2006/main">
              <a:ext uri="{FF2B5EF4-FFF2-40B4-BE49-F238E27FC236}">
                <a16:creationId xmlns:a16="http://schemas.microsoft.com/office/drawing/2014/main" id="{F2EE4456-82EF-4F21-9FCA-99EBCAC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복구 후 재발 감지, 조사 결과 Markdown 보고서 다운로드</a:t>
            </a:r>
          </a:p>
        </p:txBody>
      </p:sp>
    </p:spTree>
    <p:extLst>
      <p:ext uri="{BB962C8B-B14F-4D97-AF65-F5344CB8AC3E}">
        <p14:creationId xmlns:p14="http://schemas.microsoft.com/office/powerpoint/2010/main" val="184565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-0">
            <a:extLst xmlns:a="http://schemas.openxmlformats.org/drawingml/2006/main">
              <a:ext uri="{FF2B5EF4-FFF2-40B4-BE49-F238E27FC236}">
                <a16:creationId xmlns:a16="http://schemas.microsoft.com/office/drawing/2014/main" id="{D9A0AFF3-D566-4880-8555-8328F211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같은 관측의 개선 전후 비교와 API 확인</a:t>
            </a:r>
          </a:p>
        </p:txBody>
      </p:sp>
      <p:sp>
        <p:nvSpPr>
          <p:cNvPr id="2" name="text-5-1">
            <a:extLst xmlns:a="http://schemas.openxmlformats.org/drawingml/2006/main">
              <a:ext uri="{FF2B5EF4-FFF2-40B4-BE49-F238E27FC236}">
                <a16:creationId xmlns:a16="http://schemas.microsoft.com/office/drawing/2014/main" id="{0DC6D3EE-0D1D-4644-9060-E276A2CB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5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9BE23-910D-40D8-AC28-5539C4AFBED9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2143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191250"/>
                <a:gridCol w="2333625"/>
                <a:gridCol w="233362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관측 5단계 × 3회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1회에서 조기 복구 확정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복구 후 재발 명시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5-2">
            <a:extLst xmlns:a="http://schemas.openxmlformats.org/drawingml/2006/main">
              <a:ext uri="{FF2B5EF4-FFF2-40B4-BE49-F238E27FC236}">
                <a16:creationId xmlns:a16="http://schemas.microsoft.com/office/drawing/2014/main" id="{74E215A7-6B15-4B6A-9D20-AABEA515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같은 질문·관측을 사용한 제한된 시나리오 비교</a:t>
            </a:r>
          </a:p>
        </p:txBody>
      </p:sp>
      <p:sp>
        <p:nvSpPr>
          <p:cNvPr id="5" name="text-5-3">
            <a:extLst xmlns:a="http://schemas.openxmlformats.org/drawingml/2006/main">
              <a:ext uri="{FF2B5EF4-FFF2-40B4-BE49-F238E27FC236}">
                <a16:creationId xmlns:a16="http://schemas.microsoft.com/office/drawing/2014/main" id="{D96DB01C-6837-46E0-85C1-DF3A15B2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실제 제공 API: 일반 진단 POST 3건 + SSE 1건 검증 통과</a:t>
            </a:r>
          </a:p>
        </p:txBody>
      </p:sp>
      <p:sp>
        <p:nvSpPr>
          <p:cNvPr id="6" name="text-5-4">
            <a:extLst xmlns:a="http://schemas.openxmlformats.org/drawingml/2006/main">
              <a:ext uri="{FF2B5EF4-FFF2-40B4-BE49-F238E27FC236}">
                <a16:creationId xmlns:a16="http://schemas.microsoft.com/office/drawing/2014/main" id="{C386C59F-4EF9-40EA-BE15-416BA6E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복구 5/5 단계, 이력 5건, 보고서 다운로드 확인</a:t>
            </a:r>
          </a:p>
        </p:txBody>
      </p:sp>
      <p:sp>
        <p:nvSpPr>
          <p:cNvPr id="7" name="text-5-5">
            <a:extLst xmlns:a="http://schemas.openxmlformats.org/drawingml/2006/main">
              <a:ext uri="{FF2B5EF4-FFF2-40B4-BE49-F238E27FC236}">
                <a16:creationId xmlns:a16="http://schemas.microsoft.com/office/drawing/2014/main" id="{F36813E7-4665-4575-8E3A-E3D4DF09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로컬 자동 검사 67/67, 정상 조건 조합 392/392</a:t>
            </a:r>
          </a:p>
        </p:txBody>
      </p:sp>
      <p:sp>
        <p:nvSpPr>
          <p:cNvPr id="8" name="text-5-6">
            <a:extLst xmlns:a="http://schemas.openxmlformats.org/drawingml/2006/main">
              <a:ext uri="{FF2B5EF4-FFF2-40B4-BE49-F238E27FC236}">
                <a16:creationId xmlns:a16="http://schemas.microsoft.com/office/drawing/2014/main" id="{0B6F7FBA-AFF6-4A92-9309-BD4E258F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합성 모니터링 기준이며 전체 장애 정확도가 아닙니다. 자동 검사는 모의 모델을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2030429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-0">
            <a:extLst xmlns:a="http://schemas.openxmlformats.org/drawingml/2006/main">
              <a:ext uri="{FF2B5EF4-FFF2-40B4-BE49-F238E27FC236}">
                <a16:creationId xmlns:a16="http://schemas.microsoft.com/office/drawing/2014/main" id="{CEBB267A-44AD-4320-B9D4-047303EF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한계와 후속 개선</a:t>
            </a:r>
          </a:p>
        </p:txBody>
      </p:sp>
      <p:sp>
        <p:nvSpPr>
          <p:cNvPr id="2" name="text-6-1">
            <a:extLst xmlns:a="http://schemas.openxmlformats.org/drawingml/2006/main">
              <a:ext uri="{FF2B5EF4-FFF2-40B4-BE49-F238E27FC236}">
                <a16:creationId xmlns:a16="http://schemas.microsoft.com/office/drawing/2014/main" id="{860FBF10-ECDB-4449-BC95-DD29A974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6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0683F-7056-4A4F-9A7C-A2AD899DF0CD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67125"/>
                <a:gridCol w="7191375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선택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한계·트레이드오프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연속 정상 2회와 시간 간격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일시적 정상화에 신중하지만 복구 확인이 늦어짐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코드 정책·제한된 진단 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판정 일관성을 얻는 대신 표현·진단 범위 제한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샘플 JSON·합성 시나리오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결제 성공·근본 원인 제거는 미확인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로컬 SQLite 저장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장기 보관·운영 인증·다중 서버 대응은 후속 과제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6-2">
            <a:extLst xmlns:a="http://schemas.openxmlformats.org/drawingml/2006/main">
              <a:ext uri="{FF2B5EF4-FFF2-40B4-BE49-F238E27FC236}">
                <a16:creationId xmlns:a16="http://schemas.microsoft.com/office/drawing/2014/main" id="{3C493910-7BB4-49E9-ACBE-3632C570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제공 API 실제 확인 완료 / LangSmith 실제 추적 미검증</a:t>
            </a:r>
          </a:p>
        </p:txBody>
      </p:sp>
      <p:sp>
        <p:nvSpPr>
          <p:cNvPr id="5" name="text-6-3">
            <a:extLst xmlns:a="http://schemas.openxmlformats.org/drawingml/2006/main">
              <a:ext uri="{FF2B5EF4-FFF2-40B4-BE49-F238E27FC236}">
                <a16:creationId xmlns:a16="http://schemas.microsoft.com/office/drawing/2014/main" id="{6C2EA2BF-94F2-4383-8E4E-9C96224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후속: 실제 메트릭·서비스별 기준, 관련 서비스·변경 이력 조사</a:t>
            </a:r>
          </a:p>
        </p:txBody>
      </p:sp>
      <p:sp>
        <p:nvSpPr>
          <p:cNvPr id="6" name="text-6-4">
            <a:extLst xmlns:a="http://schemas.openxmlformats.org/drawingml/2006/main">
              <a:ext uri="{FF2B5EF4-FFF2-40B4-BE49-F238E27FC236}">
                <a16:creationId xmlns:a16="http://schemas.microsoft.com/office/drawing/2014/main" id="{B4BE7D25-2F52-49D3-A126-695851C6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7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github.com/likefool1714/ai-miniproject</a:t>
            </a:r>
          </a:p>
        </p:txBody>
      </p:sp>
    </p:spTree>
    <p:extLst>
      <p:ext uri="{BB962C8B-B14F-4D97-AF65-F5344CB8AC3E}">
        <p14:creationId xmlns:p14="http://schemas.microsoft.com/office/powerpoint/2010/main" val="1680509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-0">
            <a:extLst xmlns:a="http://schemas.openxmlformats.org/drawingml/2006/main">
              <a:ext uri="{FF2B5EF4-FFF2-40B4-BE49-F238E27FC236}">
                <a16:creationId xmlns:a16="http://schemas.microsoft.com/office/drawing/2014/main" id="{DB5D1370-BD15-43A0-9594-D162B366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참고: 코드에서 설명할 다섯 곳</a:t>
            </a:r>
          </a:p>
        </p:txBody>
      </p:sp>
      <p:sp>
        <p:nvSpPr>
          <p:cNvPr id="2" name="text-7-1">
            <a:extLst xmlns:a="http://schemas.openxmlformats.org/drawingml/2006/main">
              <a:ext uri="{FF2B5EF4-FFF2-40B4-BE49-F238E27FC236}">
                <a16:creationId xmlns:a16="http://schemas.microsoft.com/office/drawing/2014/main" id="{88C05308-ED5F-4527-BD40-0E3E325B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참고 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A9E26-3852-4D4D-9BCA-48E568D435FB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43375"/>
                <a:gridCol w="671512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함수·파일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설명할 책임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request_context_node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“그 서비스”의 대상 복원, 누락·모호함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recovery_collect_node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 Tool에서 새 관측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RecoveryStore.record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저장·중복/충돌·실패 이후 연속성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recovery.assess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이전·현재 비교, 정상 횟수·복구·재발 계산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validate_draft / render_answer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 선택 검사, 상태 해석·점검 방향 구성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-2">
            <a:extLst xmlns:a="http://schemas.openxmlformats.org/drawingml/2006/main">
              <a:ext uri="{FF2B5EF4-FFF2-40B4-BE49-F238E27FC236}">
                <a16:creationId xmlns:a16="http://schemas.microsoft.com/office/drawing/2014/main" id="{B40A5B03-551E-420F-901E-0F3D2774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정책 파일: data/recovery_policy.json   주요 흐름: agent/graph.py</a:t>
            </a:r>
          </a:p>
        </p:txBody>
      </p:sp>
    </p:spTree>
    <p:extLst>
      <p:ext uri="{BB962C8B-B14F-4D97-AF65-F5344CB8AC3E}">
        <p14:creationId xmlns:p14="http://schemas.microsoft.com/office/powerpoint/2010/main" val="232898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8-0">
            <a:extLst xmlns:a="http://schemas.openxmlformats.org/drawingml/2006/main">
              <a:ext uri="{FF2B5EF4-FFF2-40B4-BE49-F238E27FC236}">
                <a16:creationId xmlns:a16="http://schemas.microsoft.com/office/drawing/2014/main" id="{A64AC985-6E5E-44C1-952A-3C44F2EC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참고: 실제 API 모드의 정상 1회 보류 화면</a:t>
            </a:r>
          </a:p>
        </p:txBody>
      </p:sp>
      <p:sp>
        <p:nvSpPr>
          <p:cNvPr id="2" name="text-8-1">
            <a:extLst xmlns:a="http://schemas.openxmlformats.org/drawingml/2006/main">
              <a:ext uri="{FF2B5EF4-FFF2-40B4-BE49-F238E27FC236}">
                <a16:creationId xmlns:a16="http://schemas.microsoft.com/office/drawing/2014/main" id="{2D622536-56E7-45E8-A658-8D596B0E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참고 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45B45-4AD0-4B6C-8F0D-79FDB775A2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168d57cd74e84"/>
          <a:stretch xmlns:a="http://schemas.openxmlformats.org/drawingml/2006/main"/>
        </p:blipFill>
        <p:spPr>
          <a:xfrm xmlns:a="http://schemas.openxmlformats.org/drawingml/2006/main">
            <a:off x="1477622" y="1381125"/>
            <a:ext cx="9236757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text-8-2">
            <a:extLst xmlns:a="http://schemas.openxmlformats.org/drawingml/2006/main">
              <a:ext uri="{FF2B5EF4-FFF2-40B4-BE49-F238E27FC236}">
                <a16:creationId xmlns:a16="http://schemas.microsoft.com/office/drawing/2014/main" id="{CD9ECCF8-AC35-49B7-B68D-CBF7BB30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CPU 55%·메모리 60%·알림 0건이어도 정상 관측 1/2회로 복구 확정을 보류합니다.</a:t>
            </a:r>
          </a:p>
        </p:txBody>
      </p:sp>
    </p:spTree>
    <p:extLst>
      <p:ext uri="{BB962C8B-B14F-4D97-AF65-F5344CB8AC3E}">
        <p14:creationId xmlns:p14="http://schemas.microsoft.com/office/powerpoint/2010/main" val="1666832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2026-10-21T05:12:09.3200000Z</dcterms:created>
  <dcterms:modified xsi:type="dcterms:W3CDTF">2026-10-21T05:12:09.3200000Z</dcterms:modified>
</coreProperties>
</file>