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f719ce803114374" /><Relationship Type="http://schemas.openxmlformats.org/officeDocument/2006/relationships/extended-properties" Target="/docProps/app.xml" Id="R71f830b77e724c3c" /><Relationship Type="http://schemas.openxmlformats.org/officeDocument/2006/relationships/officeDocument" Target="/ppt/presentation.xml" Id="Rd48fc0acab7443f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bd95702363b4db7"/>
  </p:sldMasterIdLst>
  <p:notesMasterIdLst>
    <p:notesMasterId xmlns:r="http://schemas.openxmlformats.org/officeDocument/2006/relationships" r:id="R61a66bb9a185494a"/>
  </p:notesMasterIdLst>
  <p:sldIdLst>
    <p:sldId xmlns:r="http://schemas.openxmlformats.org/officeDocument/2006/relationships" id="256" r:id="Ra282e3b27aca4925"/>
    <p:sldId xmlns:r="http://schemas.openxmlformats.org/officeDocument/2006/relationships" id="257" r:id="Rf84976a6593b4292"/>
    <p:sldId xmlns:r="http://schemas.openxmlformats.org/officeDocument/2006/relationships" id="258" r:id="R38ba4f541a514d69"/>
    <p:sldId xmlns:r="http://schemas.openxmlformats.org/officeDocument/2006/relationships" id="259" r:id="Rdf1ae5ef189141a5"/>
    <p:sldId xmlns:r="http://schemas.openxmlformats.org/officeDocument/2006/relationships" id="260" r:id="R08c02263ea5b46f0"/>
    <p:sldId xmlns:r="http://schemas.openxmlformats.org/officeDocument/2006/relationships" id="261" r:id="R6b344adba51645db"/>
    <p:sldId xmlns:r="http://schemas.openxmlformats.org/officeDocument/2006/relationships" id="262" r:id="R0da5cb3e98c54143"/>
    <p:sldId xmlns:r="http://schemas.openxmlformats.org/officeDocument/2006/relationships" id="263" r:id="R23972a4ebbec437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42edd4c12274b9d" /><Relationship Type="http://schemas.openxmlformats.org/officeDocument/2006/relationships/slideMaster" Target="/ppt/slideMasters/slideMaster1.xml" Id="Rabd95702363b4db7" /><Relationship Type="http://schemas.openxmlformats.org/officeDocument/2006/relationships/notesMaster" Target="/ppt/notesMasters/notesMaster1.xml" Id="R61a66bb9a185494a" /><Relationship Type="http://schemas.openxmlformats.org/officeDocument/2006/relationships/presProps" Target="/ppt/presProps.xml" Id="Ra3029ee93c934968" /><Relationship Type="http://schemas.openxmlformats.org/officeDocument/2006/relationships/tableStyles" Target="/ppt/tableStyles.xml" Id="Rcd07c96e8e314998" /><Relationship Type="http://schemas.openxmlformats.org/officeDocument/2006/relationships/slide" Target="/ppt/slides/slide1.xml" Id="Ra282e3b27aca4925" /><Relationship Type="http://schemas.openxmlformats.org/officeDocument/2006/relationships/slide" Target="/ppt/slides/slide2.xml" Id="Rf84976a6593b4292" /><Relationship Type="http://schemas.openxmlformats.org/officeDocument/2006/relationships/slide" Target="/ppt/slides/slide3.xml" Id="R38ba4f541a514d69" /><Relationship Type="http://schemas.openxmlformats.org/officeDocument/2006/relationships/slide" Target="/ppt/slides/slide4.xml" Id="Rdf1ae5ef189141a5" /><Relationship Type="http://schemas.openxmlformats.org/officeDocument/2006/relationships/slide" Target="/ppt/slides/slide5.xml" Id="R08c02263ea5b46f0" /><Relationship Type="http://schemas.openxmlformats.org/officeDocument/2006/relationships/slide" Target="/ppt/slides/slide6.xml" Id="R6b344adba51645db" /><Relationship Type="http://schemas.openxmlformats.org/officeDocument/2006/relationships/slide" Target="/ppt/slides/slide7.xml" Id="R0da5cb3e98c54143" /><Relationship Type="http://schemas.openxmlformats.org/officeDocument/2006/relationships/slide" Target="/ppt/slides/slide8.xml" Id="R23972a4ebbec437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2c3770528194f9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aa456d84a2947f2" /><Relationship Type="http://schemas.openxmlformats.org/officeDocument/2006/relationships/notesMaster" Target="/ppt/notesMasters/notesMaster1.xml" Id="Rdb86ea7c516a482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3ccebd2e5e847bd" /><Relationship Type="http://schemas.openxmlformats.org/officeDocument/2006/relationships/notesMaster" Target="/ppt/notesMasters/notesMaster1.xml" Id="R9f3ec3c3f21e465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4c9095dff124faa" /><Relationship Type="http://schemas.openxmlformats.org/officeDocument/2006/relationships/notesMaster" Target="/ppt/notesMasters/notesMaster1.xml" Id="R20550e5e0a6347b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7e7bef8ee224cac" /><Relationship Type="http://schemas.openxmlformats.org/officeDocument/2006/relationships/notesMaster" Target="/ppt/notesMasters/notesMaster1.xml" Id="R98d0578a3fe04fa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ab8129e2d884aea" /><Relationship Type="http://schemas.openxmlformats.org/officeDocument/2006/relationships/notesMaster" Target="/ppt/notesMasters/notesMaster1.xml" Id="R0d53c4f3790f464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e11eb619db74a3b" /><Relationship Type="http://schemas.openxmlformats.org/officeDocument/2006/relationships/notesMaster" Target="/ppt/notesMasters/notesMaster1.xml" Id="R78de14746fac46b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8157cae232c45d7" /><Relationship Type="http://schemas.openxmlformats.org/officeDocument/2006/relationships/notesMaster" Target="/ppt/notesMasters/notesMaster1.xml" Id="R6d20f2b70fd34f0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d5a6d4d7df841fc" /><Relationship Type="http://schemas.openxmlformats.org/officeDocument/2006/relationships/notesMaster" Target="/ppt/notesMasters/notesMaster1.xml" Id="R6f15ad0869184ff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G028 최민석. 제공 Base AI Agent를 개선한 과제 1번 프로젝트입니다. 실제 운영 서버 대신 샘플·합성 시나리오를 사용합니다.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results/recovery-2026-10-20/responses.json, manual-review.json. 원본 d1043ff, qwen3:0.6b/8b, 고정 관측. 3번째 단계에서 3회 모두 현재 상태 기준 복구 완료라고 응답했습니다. 일반 정확도로 확대하지 않습니다.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agent/graph.py, recovery_nodes.py, recovery_store.py, recovery.py. 2주차 Capstone PDF 실제 p.148 권위 게이트, p.170 시간 제한, p.209 상태 복원, p.245 고정 평가셋의 개념을 적용했습니다. LangGraph Checkpointer나 RAG를 새로 도입했다고 설명하지 않습니다.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data/recovery_policy.json, agent/recovery.py. 임계값과 2회 정상 기준은 교육용 설정이며 실제 SLO가 아닙니다. 관측 간 실제 서비스 정상 상태를 보장하지 않습니다.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results/recovery-2026-10-20/recovery-confirmed.png. 실제 Chrome, Vue/SSE, stdio MCP, 합성 recovery-demo 시나리오. 화면 시각은 UTC입니다. 정상 첫 관측은 부분 회복, 두 번째 정상 관측에서 복구 확인입니다.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results/recovery-2026-10-20/recovery-recurrence.png, browser-downloaded-report.md. 복구 이후 CPU 94%·새 알림을 재발로 판정했습니다. 브라우저에서 이력과 Markdown 다운로드를 확인했습니다. 실제 서버 조치·복구 증명은 하지 않습니다.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results/recovery-2026-10-20/summary.json, manual-review.json, responses.json, unit-api-tests.txt. 원본/개선 각각 5단계×3회. 원본 자연어는 별도 원문 대조이며 구조화 판정 부재를 자동 오답 처리하지 않았습니다. 28.7905초와 0.002908초는 고정 MCP fixture를 주입한 그래프 지연 중앙값입니다. 개선 경로는 LLM을 호출하지 않습니다. 실제 웹·MCP 지연을 포함하지 않습니다.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docs/TRADEOFFS.md, README.md. API/LangSmith는 실제 키가 없어 연결 미검증입니다. 실제 운영 메트릭, 사용자 트랜잭션, 보관 정책, 인증·권한은 후속 범위입니다. 제공 API 키는 로컬 환경에만 보관하며 저장소에 포함하지 않습니다.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a47beb5265641d6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7148dcb2b854760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ba132ca6dc64935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ca2ed5e40e14f7e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ddfefa3d9b44bcc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41320a7eb514cb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9654DC6-EDAC-44FC-86F7-FDB2C853DAA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0E09A323-0FDA-43CE-BEEC-EB91508D65EF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41F74E7A-3071-448A-83F8-12501EE8AA5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5BE4CF9-0EE5-4B52-AD65-3C5B8954497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C921F8FD-8615-4BB4-B14A-354247AB91A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319B9052-C972-47D8-B565-660E6543519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B2A7CF65-0DEF-407E-9EC1-82D58BB2D0E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844C21C5-F894-4FCB-AE31-741A2A0A626D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8057CA4-0254-4816-86A7-72570AFE0AD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CB2B3086-1838-4CC8-8314-67A8F812399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fe8c875bdc942e0" /><Relationship Type="http://schemas.openxmlformats.org/officeDocument/2006/relationships/slideLayout" Target="/ppt/slideLayouts/slideLayout1.xml" Id="Rd2e0c436317142dd" /><Relationship Type="http://schemas.openxmlformats.org/officeDocument/2006/relationships/slideLayout" Target="/ppt/slideLayouts/slideLayout2.xml" Id="R1cd394fef9ca4db2" /><Relationship Type="http://schemas.openxmlformats.org/officeDocument/2006/relationships/slideLayout" Target="/ppt/slideLayouts/slideLayout3.xml" Id="R732c8451cd2d454d" /><Relationship Type="http://schemas.openxmlformats.org/officeDocument/2006/relationships/slideLayout" Target="/ppt/slideLayouts/slideLayout4.xml" Id="R59b91f07523e4a57" /><Relationship Type="http://schemas.openxmlformats.org/officeDocument/2006/relationships/slideLayout" Target="/ppt/slideLayouts/slideLayout5.xml" Id="R6e67c3c705454338" /><Relationship Type="http://schemas.openxmlformats.org/officeDocument/2006/relationships/slideLayout" Target="/ppt/slideLayouts/slideLayout6.xml" Id="R7ca3ae5150e54af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2e0c436317142dd"/>
    <p:sldLayoutId xmlns:r="http://schemas.openxmlformats.org/officeDocument/2006/relationships" id="2147483650" r:id="R1cd394fef9ca4db2"/>
    <p:sldLayoutId xmlns:r="http://schemas.openxmlformats.org/officeDocument/2006/relationships" id="2147483651" r:id="R732c8451cd2d454d"/>
    <p:sldLayoutId xmlns:r="http://schemas.openxmlformats.org/officeDocument/2006/relationships" id="2147483652" r:id="R59b91f07523e4a57"/>
    <p:sldLayoutId xmlns:r="http://schemas.openxmlformats.org/officeDocument/2006/relationships" id="2147483653" r:id="R6e67c3c705454338"/>
    <p:sldLayoutId xmlns:r="http://schemas.openxmlformats.org/officeDocument/2006/relationships" id="2147483654" r:id="R7ca3ae5150e54af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fdd35c58dd84794" /><Relationship Type="http://schemas.openxmlformats.org/officeDocument/2006/relationships/notesSlide" Target="/ppt/notesSlides/notesSlide1.xml" Id="Rca15b07b03a5426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8d72690b49d43ed" /><Relationship Type="http://schemas.openxmlformats.org/officeDocument/2006/relationships/notesSlide" Target="/ppt/notesSlides/notesSlide2.xml" Id="R81158d545850456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b2f46ca4d274c45" /><Relationship Type="http://schemas.openxmlformats.org/officeDocument/2006/relationships/notesSlide" Target="/ppt/notesSlides/notesSlide3.xml" Id="R9ccb22ed905e479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a8c230fb2ae4811" /><Relationship Type="http://schemas.openxmlformats.org/officeDocument/2006/relationships/notesSlide" Target="/ppt/notesSlides/notesSlide4.xml" Id="Rdc79133ea9844dc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890c14516fa4fbe" /><Relationship Type="http://schemas.openxmlformats.org/officeDocument/2006/relationships/image" Target="/ppt/media/image.jpeg" Id="R84bffd21f3fc4a69" /><Relationship Type="http://schemas.openxmlformats.org/officeDocument/2006/relationships/notesSlide" Target="/ppt/notesSlides/notesSlide5.xml" Id="R050a98be42e04e7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536f376bc0e42a6" /><Relationship Type="http://schemas.openxmlformats.org/officeDocument/2006/relationships/image" Target="/ppt/media/image2.jpeg" Id="R54df0e1a0d2049a1" /><Relationship Type="http://schemas.openxmlformats.org/officeDocument/2006/relationships/notesSlide" Target="/ppt/notesSlides/notesSlide6.xml" Id="R9fcd4053f2b04f8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976984621e84a5e" /><Relationship Type="http://schemas.openxmlformats.org/officeDocument/2006/relationships/notesSlide" Target="/ppt/notesSlides/notesSlide7.xml" Id="Rb5433489a4404d2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4aecc7488a04972" /><Relationship Type="http://schemas.openxmlformats.org/officeDocument/2006/relationships/notesSlide" Target="/ppt/notesSlides/notesSlide8.xml" Id="R39e0113043fa444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AFB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-1-0">
            <a:extLst xmlns:a="http://schemas.openxmlformats.org/drawingml/2006/main">
              <a:ext uri="{FF2B5EF4-FFF2-40B4-BE49-F238E27FC236}">
                <a16:creationId xmlns:a16="http://schemas.microsoft.com/office/drawing/2014/main" id="{2BFCD19E-6A87-43EC-A410-CCE53EEE1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6250"/>
            <a:ext cx="10858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3300" b="1">
                <a:solidFill>
                  <a:srgbClr val="172638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3300" b="1">
                <a:solidFill>
                  <a:srgbClr val="172638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3300" b="1">
                <a:solidFill>
                  <a:srgbClr val="172638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3300" b="1">
                <a:solidFill>
                  <a:srgbClr val="172638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3300" b="1">
                <a:solidFill>
                  <a:srgbClr val="172638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3300" b="1">
                <a:solidFill>
                  <a:srgbClr val="172638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3300" b="1">
                <a:solidFill>
                  <a:srgbClr val="172638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3300" b="1">
                <a:solidFill>
                  <a:srgbClr val="172638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3300" b="1">
                <a:solidFill>
                  <a:srgbClr val="172638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3300" b="1">
                <a:solidFill>
                  <a:srgbClr val="172638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7263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300" b="1">
                <a:solidFill>
                  <a:srgbClr val="172638"/>
                </a:solidFill>
                <a:latin typeface="Apple SD Gothic Neo"/>
                <a:ea typeface="Apple SD Gothic Neo"/>
                <a:cs typeface="Apple SD Gothic Neo"/>
              </a:rPr>
              <a:t>운영 장애 대응 에이전트</a:t>
            </a:r>
          </a:p>
        </p:txBody>
      </p:sp>
      <p:sp>
        <p:nvSpPr>
          <p:cNvPr id="2" name="text-1-1">
            <a:extLst xmlns:a="http://schemas.openxmlformats.org/drawingml/2006/main">
              <a:ext uri="{FF2B5EF4-FFF2-40B4-BE49-F238E27FC236}">
                <a16:creationId xmlns:a16="http://schemas.microsoft.com/office/drawing/2014/main" id="{A29E7C77-BFB6-4FAE-9B07-98F82C11B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34125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350" b="0">
                <a:solidFill>
                  <a:srgbClr val="596A7B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350" b="0">
                <a:solidFill>
                  <a:srgbClr val="596A7B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350" b="0">
                <a:solidFill>
                  <a:srgbClr val="596A7B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350" b="0">
                <a:solidFill>
                  <a:srgbClr val="596A7B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350" b="0">
                <a:solidFill>
                  <a:srgbClr val="596A7B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350" b="0">
                <a:solidFill>
                  <a:srgbClr val="596A7B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350" b="0">
                <a:solidFill>
                  <a:srgbClr val="596A7B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350" b="0">
                <a:solidFill>
                  <a:srgbClr val="596A7B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350" b="0">
                <a:solidFill>
                  <a:srgbClr val="596A7B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350" b="0">
                <a:solidFill>
                  <a:srgbClr val="596A7B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96A7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596A7B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</p:txBody>
      </p:sp>
      <p:sp>
        <p:nvSpPr>
          <p:cNvPr id="3" name="text-1-2">
            <a:extLst xmlns:a="http://schemas.openxmlformats.org/drawingml/2006/main">
              <a:ext uri="{FF2B5EF4-FFF2-40B4-BE49-F238E27FC236}">
                <a16:creationId xmlns:a16="http://schemas.microsoft.com/office/drawing/2014/main" id="{7E684E5A-776B-43FA-A6EB-9DCCADEB2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52625"/>
            <a:ext cx="102870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5100" b="1">
                <a:solidFill>
                  <a:srgbClr val="3058B8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5100" b="1">
                <a:solidFill>
                  <a:srgbClr val="3058B8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5100" b="1">
                <a:solidFill>
                  <a:srgbClr val="3058B8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5100" b="1">
                <a:solidFill>
                  <a:srgbClr val="3058B8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5100" b="1">
                <a:solidFill>
                  <a:srgbClr val="3058B8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5100" b="1">
                <a:solidFill>
                  <a:srgbClr val="3058B8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5100" b="1">
                <a:solidFill>
                  <a:srgbClr val="3058B8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5100" b="1">
                <a:solidFill>
                  <a:srgbClr val="3058B8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5100" b="1">
                <a:solidFill>
                  <a:srgbClr val="3058B8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5100" b="1">
                <a:solidFill>
                  <a:srgbClr val="3058B8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5100" b="1">
                <a:solidFill>
                  <a:srgbClr val="3058B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5100" b="1">
                <a:solidFill>
                  <a:srgbClr val="3058B8"/>
                </a:solidFill>
                <a:latin typeface="Apple SD Gothic Neo"/>
                <a:ea typeface="Apple SD Gothic Neo"/>
                <a:cs typeface="Apple SD Gothic Neo"/>
              </a:rPr>
              <a:t>상태 변화와</a:t>
            </a:r>
          </a:p>
          <a:p xmlns:a="http://schemas.openxmlformats.org/drawingml/2006/main">
            <a:pPr>
              <a:defRPr sz="5100" b="1">
                <a:solidFill>
                  <a:srgbClr val="3058B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5100" b="1">
                <a:solidFill>
                  <a:srgbClr val="3058B8"/>
                </a:solidFill>
                <a:latin typeface="Apple SD Gothic Neo"/>
                <a:ea typeface="Apple SD Gothic Neo"/>
                <a:cs typeface="Apple SD Gothic Neo"/>
              </a:rPr>
              <a:t>복구 확인</a:t>
            </a:r>
          </a:p>
        </p:txBody>
      </p:sp>
      <p:sp>
        <p:nvSpPr>
          <p:cNvPr id="4" name="text-1-3">
            <a:extLst xmlns:a="http://schemas.openxmlformats.org/drawingml/2006/main">
              <a:ext uri="{FF2B5EF4-FFF2-40B4-BE49-F238E27FC236}">
                <a16:creationId xmlns:a16="http://schemas.microsoft.com/office/drawing/2014/main" id="{FEC6DF10-73A3-43E2-9410-833E6A2CB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667250"/>
            <a:ext cx="990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250" b="0">
                <a:solidFill>
                  <a:srgbClr val="172638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2250" b="0">
                <a:solidFill>
                  <a:srgbClr val="172638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2250" b="0">
                <a:solidFill>
                  <a:srgbClr val="172638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2250" b="0">
                <a:solidFill>
                  <a:srgbClr val="172638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2250" b="0">
                <a:solidFill>
                  <a:srgbClr val="172638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2250" b="0">
                <a:solidFill>
                  <a:srgbClr val="172638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2250" b="0">
                <a:solidFill>
                  <a:srgbClr val="172638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2250" b="0">
                <a:solidFill>
                  <a:srgbClr val="172638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2250" b="0">
                <a:solidFill>
                  <a:srgbClr val="172638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2250" b="0">
                <a:solidFill>
                  <a:srgbClr val="172638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17263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250" b="0">
                <a:solidFill>
                  <a:srgbClr val="172638"/>
                </a:solidFill>
                <a:latin typeface="Apple SD Gothic Neo"/>
                <a:ea typeface="Apple SD Gothic Neo"/>
                <a:cs typeface="Apple SD Gothic Neo"/>
              </a:rPr>
              <a:t>과제 1번   G028 최민석</a:t>
            </a:r>
          </a:p>
        </p:txBody>
      </p:sp>
      <p:sp>
        <p:nvSpPr>
          <p:cNvPr id="5" name="text-1-4">
            <a:extLst xmlns:a="http://schemas.openxmlformats.org/drawingml/2006/main">
              <a:ext uri="{FF2B5EF4-FFF2-40B4-BE49-F238E27FC236}">
                <a16:creationId xmlns:a16="http://schemas.microsoft.com/office/drawing/2014/main" id="{2EB50B01-A80C-4264-BBF7-4D91F2184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314950"/>
            <a:ext cx="9906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875" b="0">
                <a:solidFill>
                  <a:srgbClr val="596A7B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875" b="0">
                <a:solidFill>
                  <a:srgbClr val="596A7B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875" b="0">
                <a:solidFill>
                  <a:srgbClr val="596A7B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875" b="0">
                <a:solidFill>
                  <a:srgbClr val="596A7B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875" b="0">
                <a:solidFill>
                  <a:srgbClr val="596A7B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875" b="0">
                <a:solidFill>
                  <a:srgbClr val="596A7B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875" b="0">
                <a:solidFill>
                  <a:srgbClr val="596A7B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875" b="0">
                <a:solidFill>
                  <a:srgbClr val="596A7B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875" b="0">
                <a:solidFill>
                  <a:srgbClr val="596A7B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875" b="0">
                <a:solidFill>
                  <a:srgbClr val="596A7B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596A7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0">
                <a:solidFill>
                  <a:srgbClr val="596A7B"/>
                </a:solidFill>
                <a:latin typeface="Apple SD Gothic Neo"/>
                <a:ea typeface="Apple SD Gothic Neo"/>
                <a:cs typeface="Apple SD Gothic Neo"/>
              </a:rPr>
              <a:t>2026.10.20</a:t>
            </a:r>
          </a:p>
          <a:p xmlns:a="http://schemas.openxmlformats.org/drawingml/2006/main">
            <a:pPr>
              <a:defRPr sz="1875" b="0">
                <a:solidFill>
                  <a:srgbClr val="596A7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0">
                <a:solidFill>
                  <a:srgbClr val="596A7B"/>
                </a:solidFill>
                <a:latin typeface="Apple SD Gothic Neo"/>
                <a:ea typeface="Apple SD Gothic Neo"/>
                <a:cs typeface="Apple SD Gothic Neo"/>
              </a:rPr>
              <a:t>샘플 모니터링 기반 구현</a:t>
            </a:r>
          </a:p>
        </p:txBody>
      </p:sp>
    </p:spTree>
    <p:extLst>
      <p:ext uri="{BB962C8B-B14F-4D97-AF65-F5344CB8AC3E}">
        <p14:creationId xmlns:p14="http://schemas.microsoft.com/office/powerpoint/2010/main" val="90398143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AFB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-2-0">
            <a:extLst xmlns:a="http://schemas.openxmlformats.org/drawingml/2006/main">
              <a:ext uri="{FF2B5EF4-FFF2-40B4-BE49-F238E27FC236}">
                <a16:creationId xmlns:a16="http://schemas.microsoft.com/office/drawing/2014/main" id="{9A5F12A2-79B3-4DAD-9884-40D1DC4DF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6250"/>
            <a:ext cx="10858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3300" b="1">
                <a:solidFill>
                  <a:srgbClr val="172638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3300" b="1">
                <a:solidFill>
                  <a:srgbClr val="172638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3300" b="1">
                <a:solidFill>
                  <a:srgbClr val="172638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3300" b="1">
                <a:solidFill>
                  <a:srgbClr val="172638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3300" b="1">
                <a:solidFill>
                  <a:srgbClr val="172638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3300" b="1">
                <a:solidFill>
                  <a:srgbClr val="172638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3300" b="1">
                <a:solidFill>
                  <a:srgbClr val="172638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3300" b="1">
                <a:solidFill>
                  <a:srgbClr val="172638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3300" b="1">
                <a:solidFill>
                  <a:srgbClr val="172638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3300" b="1">
                <a:solidFill>
                  <a:srgbClr val="172638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7263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300" b="1">
                <a:solidFill>
                  <a:srgbClr val="172638"/>
                </a:solidFill>
                <a:latin typeface="Apple SD Gothic Neo"/>
                <a:ea typeface="Apple SD Gothic Neo"/>
                <a:cs typeface="Apple SD Gothic Neo"/>
              </a:rPr>
              <a:t>정상 관측 한 번으로 복구를 확정하는 문제</a:t>
            </a:r>
          </a:p>
        </p:txBody>
      </p:sp>
      <p:sp>
        <p:nvSpPr>
          <p:cNvPr id="2" name="text-2-1">
            <a:extLst xmlns:a="http://schemas.openxmlformats.org/drawingml/2006/main">
              <a:ext uri="{FF2B5EF4-FFF2-40B4-BE49-F238E27FC236}">
                <a16:creationId xmlns:a16="http://schemas.microsoft.com/office/drawing/2014/main" id="{7A019C76-95A6-45C6-B7EC-765693941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34125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350" b="0">
                <a:solidFill>
                  <a:srgbClr val="596A7B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350" b="0">
                <a:solidFill>
                  <a:srgbClr val="596A7B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350" b="0">
                <a:solidFill>
                  <a:srgbClr val="596A7B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350" b="0">
                <a:solidFill>
                  <a:srgbClr val="596A7B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350" b="0">
                <a:solidFill>
                  <a:srgbClr val="596A7B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350" b="0">
                <a:solidFill>
                  <a:srgbClr val="596A7B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350" b="0">
                <a:solidFill>
                  <a:srgbClr val="596A7B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350" b="0">
                <a:solidFill>
                  <a:srgbClr val="596A7B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350" b="0">
                <a:solidFill>
                  <a:srgbClr val="596A7B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350" b="0">
                <a:solidFill>
                  <a:srgbClr val="596A7B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96A7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596A7B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3" name="text-2-2">
            <a:extLst xmlns:a="http://schemas.openxmlformats.org/drawingml/2006/main">
              <a:ext uri="{FF2B5EF4-FFF2-40B4-BE49-F238E27FC236}">
                <a16:creationId xmlns:a16="http://schemas.microsoft.com/office/drawing/2014/main" id="{F7BCB9EA-60E2-4E45-B16B-BD9D0D9BA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76375"/>
            <a:ext cx="10763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250" b="1">
                <a:solidFill>
                  <a:srgbClr val="3058B8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2250" b="1">
                <a:solidFill>
                  <a:srgbClr val="3058B8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2250" b="1">
                <a:solidFill>
                  <a:srgbClr val="3058B8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2250" b="1">
                <a:solidFill>
                  <a:srgbClr val="3058B8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2250" b="1">
                <a:solidFill>
                  <a:srgbClr val="3058B8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2250" b="1">
                <a:solidFill>
                  <a:srgbClr val="3058B8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2250" b="1">
                <a:solidFill>
                  <a:srgbClr val="3058B8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2250" b="1">
                <a:solidFill>
                  <a:srgbClr val="3058B8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2250" b="1">
                <a:solidFill>
                  <a:srgbClr val="3058B8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2250" b="1">
                <a:solidFill>
                  <a:srgbClr val="3058B8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3058B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250" b="1">
                <a:solidFill>
                  <a:srgbClr val="3058B8"/>
                </a:solidFill>
                <a:latin typeface="Apple SD Gothic Neo"/>
                <a:ea typeface="Apple SD Gothic Neo"/>
                <a:cs typeface="Apple SD Gothic Neo"/>
              </a:rPr>
              <a:t>결제 서비스 CPU 95%에서 55%로 감소, 알림 0건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C1103D4-1031-4D88-B3A4-D99494F3F67B}"/>
              </a:ext>
            </a:extLst>
          </p:cNvPr>
          <p:cNvGraphicFramePr/>
          <p:nvPr/>
        </p:nvGraphicFramePr>
        <p:xfrm>
          <a:off xmlns:a="http://schemas.openxmlformats.org/drawingml/2006/main" x="666750" y="2333625"/>
          <a:ext xmlns:a="http://schemas.openxmlformats.org/drawingml/2006/main" cx="10858500" cy="2524125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5429250"/>
                <a:gridCol w="5429250"/>
              </a:tblGrid>
              <a:tr h="8413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3058B8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원본 응답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8E0EC"/>
                      </a:solidFill>
                      <a:prstDash val="solid"/>
                    </a:lnL>
                    <a:lnR w="9525">
                      <a:solidFill>
                        <a:srgbClr val="D8E0EC"/>
                      </a:solidFill>
                      <a:prstDash val="solid"/>
                    </a:lnR>
                    <a:lnT w="9525">
                      <a:solidFill>
                        <a:srgbClr val="D8E0EC"/>
                      </a:solidFill>
                      <a:prstDash val="solid"/>
                    </a:lnT>
                    <a:lnB w="9525">
                      <a:solidFill>
                        <a:srgbClr val="D8E0EC"/>
                      </a:solidFill>
                      <a:prstDash val="solid"/>
                    </a:lnB>
                    <a:solidFill>
                      <a:srgbClr val="EAF0F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3058B8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추가할 판단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E0EC"/>
                      </a:solidFill>
                      <a:prstDash val="solid"/>
                    </a:lnR>
                    <a:lnT w="9525">
                      <a:solidFill>
                        <a:srgbClr val="D8E0EC"/>
                      </a:solidFill>
                      <a:prstDash val="solid"/>
                    </a:lnT>
                    <a:lnB w="9525">
                      <a:solidFill>
                        <a:srgbClr val="D8E0EC"/>
                      </a:solidFill>
                      <a:prstDash val="solid"/>
                    </a:lnB>
                    <a:solidFill>
                      <a:srgbClr val="EAF0FB"/>
                    </a:solidFill>
                  </a:tcPr>
                </a:tc>
              </a:tr>
              <a:tr h="8413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72638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“현재 상태 기준 복구 완료”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8E0EC"/>
                      </a:solidFill>
                      <a:prstDash val="solid"/>
                    </a:lnL>
                    <a:lnR w="9525">
                      <a:solidFill>
                        <a:srgbClr val="D8E0EC"/>
                      </a:solidFill>
                      <a:prstDash val="solid"/>
                    </a:lnR>
                    <a:lnB w="9525">
                      <a:solidFill>
                        <a:srgbClr val="D8E0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72638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정상 관측은 1회이므로 부분 회복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E0EC"/>
                      </a:solidFill>
                      <a:prstDash val="solid"/>
                    </a:lnR>
                    <a:lnB w="9525">
                      <a:solidFill>
                        <a:srgbClr val="D8E0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413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72638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직전 변화·안정성 근거 부족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8E0EC"/>
                      </a:solidFill>
                      <a:prstDash val="solid"/>
                    </a:lnL>
                    <a:lnR w="9525">
                      <a:solidFill>
                        <a:srgbClr val="D8E0EC"/>
                      </a:solidFill>
                      <a:prstDash val="solid"/>
                    </a:lnR>
                    <a:lnB w="9525">
                      <a:solidFill>
                        <a:srgbClr val="D8E0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72638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이전 기록과 연속 정상 관측을 함께 확인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E0EC"/>
                      </a:solidFill>
                      <a:prstDash val="solid"/>
                    </a:lnR>
                    <a:lnB w="9525">
                      <a:solidFill>
                        <a:srgbClr val="D8E0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-2-3">
            <a:extLst xmlns:a="http://schemas.openxmlformats.org/drawingml/2006/main">
              <a:ext uri="{FF2B5EF4-FFF2-40B4-BE49-F238E27FC236}">
                <a16:creationId xmlns:a16="http://schemas.microsoft.com/office/drawing/2014/main" id="{2F2C63A0-E123-4385-BE4C-F82969DCF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314950"/>
            <a:ext cx="108108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100" b="0">
                <a:solidFill>
                  <a:srgbClr val="172638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2100" b="0">
                <a:solidFill>
                  <a:srgbClr val="172638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2100" b="0">
                <a:solidFill>
                  <a:srgbClr val="172638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2100" b="0">
                <a:solidFill>
                  <a:srgbClr val="172638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2100" b="0">
                <a:solidFill>
                  <a:srgbClr val="172638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2100" b="0">
                <a:solidFill>
                  <a:srgbClr val="172638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2100" b="0">
                <a:solidFill>
                  <a:srgbClr val="172638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2100" b="0">
                <a:solidFill>
                  <a:srgbClr val="172638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2100" b="0">
                <a:solidFill>
                  <a:srgbClr val="172638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2100" b="0">
                <a:solidFill>
                  <a:srgbClr val="172638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7263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0">
                <a:solidFill>
                  <a:srgbClr val="172638"/>
                </a:solidFill>
                <a:latin typeface="Apple SD Gothic Neo"/>
                <a:ea typeface="Apple SD Gothic Neo"/>
                <a:cs typeface="Apple SD Gothic Neo"/>
              </a:rPr>
              <a:t>고정 시나리오의 조기 복구 확정: 원본 3/3건</a:t>
            </a:r>
          </a:p>
        </p:txBody>
      </p:sp>
      <p:sp>
        <p:nvSpPr>
          <p:cNvPr id="6" name="text-2-4">
            <a:extLst xmlns:a="http://schemas.openxmlformats.org/drawingml/2006/main">
              <a:ext uri="{FF2B5EF4-FFF2-40B4-BE49-F238E27FC236}">
                <a16:creationId xmlns:a16="http://schemas.microsoft.com/office/drawing/2014/main" id="{0004D3AC-8B9E-4913-95F5-925180725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848350"/>
            <a:ext cx="10810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875" b="0">
                <a:solidFill>
                  <a:srgbClr val="596A7B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875" b="0">
                <a:solidFill>
                  <a:srgbClr val="596A7B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875" b="0">
                <a:solidFill>
                  <a:srgbClr val="596A7B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875" b="0">
                <a:solidFill>
                  <a:srgbClr val="596A7B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875" b="0">
                <a:solidFill>
                  <a:srgbClr val="596A7B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875" b="0">
                <a:solidFill>
                  <a:srgbClr val="596A7B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875" b="0">
                <a:solidFill>
                  <a:srgbClr val="596A7B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875" b="0">
                <a:solidFill>
                  <a:srgbClr val="596A7B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875" b="0">
                <a:solidFill>
                  <a:srgbClr val="596A7B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875" b="0">
                <a:solidFill>
                  <a:srgbClr val="596A7B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596A7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0">
                <a:solidFill>
                  <a:srgbClr val="596A7B"/>
                </a:solidFill>
                <a:latin typeface="Apple SD Gothic Neo"/>
                <a:ea typeface="Apple SD Gothic Neo"/>
                <a:cs typeface="Apple SD Gothic Neo"/>
              </a:rPr>
              <a:t>현재 정상과 복구 확인의 기준을 구분했습니다.</a:t>
            </a:r>
          </a:p>
        </p:txBody>
      </p:sp>
    </p:spTree>
    <p:extLst>
      <p:ext uri="{BB962C8B-B14F-4D97-AF65-F5344CB8AC3E}">
        <p14:creationId xmlns:p14="http://schemas.microsoft.com/office/powerpoint/2010/main" val="55119572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AFB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ext-3-0">
            <a:extLst xmlns:a="http://schemas.openxmlformats.org/drawingml/2006/main">
              <a:ext uri="{FF2B5EF4-FFF2-40B4-BE49-F238E27FC236}">
                <a16:creationId xmlns:a16="http://schemas.microsoft.com/office/drawing/2014/main" id="{A11AE584-3D8C-4170-8F2A-C4D7A7A5B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6250"/>
            <a:ext cx="10858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3300" b="1">
                <a:solidFill>
                  <a:srgbClr val="172638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3300" b="1">
                <a:solidFill>
                  <a:srgbClr val="172638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3300" b="1">
                <a:solidFill>
                  <a:srgbClr val="172638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3300" b="1">
                <a:solidFill>
                  <a:srgbClr val="172638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3300" b="1">
                <a:solidFill>
                  <a:srgbClr val="172638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3300" b="1">
                <a:solidFill>
                  <a:srgbClr val="172638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3300" b="1">
                <a:solidFill>
                  <a:srgbClr val="172638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3300" b="1">
                <a:solidFill>
                  <a:srgbClr val="172638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3300" b="1">
                <a:solidFill>
                  <a:srgbClr val="172638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3300" b="1">
                <a:solidFill>
                  <a:srgbClr val="172638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7263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300" b="1">
                <a:solidFill>
                  <a:srgbClr val="172638"/>
                </a:solidFill>
                <a:latin typeface="Apple SD Gothic Neo"/>
                <a:ea typeface="Apple SD Gothic Neo"/>
                <a:cs typeface="Apple SD Gothic Neo"/>
              </a:rPr>
              <a:t>추가한 기능과 코드 책임</a:t>
            </a:r>
          </a:p>
        </p:txBody>
      </p:sp>
      <p:sp>
        <p:nvSpPr>
          <p:cNvPr id="2" name="text-3-1">
            <a:extLst xmlns:a="http://schemas.openxmlformats.org/drawingml/2006/main">
              <a:ext uri="{FF2B5EF4-FFF2-40B4-BE49-F238E27FC236}">
                <a16:creationId xmlns:a16="http://schemas.microsoft.com/office/drawing/2014/main" id="{0324533A-CAAA-4413-ADD2-77238FCC0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34125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350" b="0">
                <a:solidFill>
                  <a:srgbClr val="596A7B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350" b="0">
                <a:solidFill>
                  <a:srgbClr val="596A7B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350" b="0">
                <a:solidFill>
                  <a:srgbClr val="596A7B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350" b="0">
                <a:solidFill>
                  <a:srgbClr val="596A7B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350" b="0">
                <a:solidFill>
                  <a:srgbClr val="596A7B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350" b="0">
                <a:solidFill>
                  <a:srgbClr val="596A7B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350" b="0">
                <a:solidFill>
                  <a:srgbClr val="596A7B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350" b="0">
                <a:solidFill>
                  <a:srgbClr val="596A7B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350" b="0">
                <a:solidFill>
                  <a:srgbClr val="596A7B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350" b="0">
                <a:solidFill>
                  <a:srgbClr val="596A7B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96A7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596A7B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D0E4D6D-083E-4C7E-AA8E-164061499653}"/>
              </a:ext>
            </a:extLst>
          </p:cNvPr>
          <p:cNvGraphicFramePr/>
          <p:nvPr/>
        </p:nvGraphicFramePr>
        <p:xfrm>
          <a:off xmlns:a="http://schemas.openxmlformats.org/drawingml/2006/main" x="666750" y="1476375"/>
          <a:ext xmlns:a="http://schemas.openxmlformats.org/drawingml/2006/main" cx="10858500" cy="400050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3429000"/>
                <a:gridCol w="7429500"/>
              </a:tblGrid>
              <a:tr h="6667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3058B8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처리 단계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8E0EC"/>
                      </a:solidFill>
                      <a:prstDash val="solid"/>
                    </a:lnL>
                    <a:lnR w="9525">
                      <a:solidFill>
                        <a:srgbClr val="D8E0EC"/>
                      </a:solidFill>
                      <a:prstDash val="solid"/>
                    </a:lnR>
                    <a:lnT w="9525">
                      <a:solidFill>
                        <a:srgbClr val="D8E0EC"/>
                      </a:solidFill>
                      <a:prstDash val="solid"/>
                    </a:lnT>
                    <a:lnB w="9525">
                      <a:solidFill>
                        <a:srgbClr val="D8E0EC"/>
                      </a:solidFill>
                      <a:prstDash val="solid"/>
                    </a:lnB>
                    <a:solidFill>
                      <a:srgbClr val="EAF0F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3058B8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담당 코드와 역할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E0EC"/>
                      </a:solidFill>
                      <a:prstDash val="solid"/>
                    </a:lnR>
                    <a:lnT w="9525">
                      <a:solidFill>
                        <a:srgbClr val="D8E0EC"/>
                      </a:solidFill>
                      <a:prstDash val="solid"/>
                    </a:lnT>
                    <a:lnB w="9525">
                      <a:solidFill>
                        <a:srgbClr val="D8E0EC"/>
                      </a:solidFill>
                      <a:prstDash val="solid"/>
                    </a:lnB>
                    <a:solidFill>
                      <a:srgbClr val="EAF0FB"/>
                    </a:solidFill>
                  </a:tcPr>
                </a:tc>
              </a:tr>
              <a:tr h="6667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72638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대상·후속 질문 해석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8E0EC"/>
                      </a:solidFill>
                      <a:prstDash val="solid"/>
                    </a:lnL>
                    <a:lnR w="9525">
                      <a:solidFill>
                        <a:srgbClr val="D8E0EC"/>
                      </a:solidFill>
                      <a:prstDash val="solid"/>
                    </a:lnR>
                    <a:lnB w="9525">
                      <a:solidFill>
                        <a:srgbClr val="D8E0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72638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recovery_nodes.py: 이전 서비스와 요청 연결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E0EC"/>
                      </a:solidFill>
                      <a:prstDash val="solid"/>
                    </a:lnR>
                    <a:lnB w="9525">
                      <a:solidFill>
                        <a:srgbClr val="D8E0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72638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관측 수집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8E0EC"/>
                      </a:solidFill>
                      <a:prstDash val="solid"/>
                    </a:lnL>
                    <a:lnR w="9525">
                      <a:solidFill>
                        <a:srgbClr val="D8E0EC"/>
                      </a:solidFill>
                      <a:prstDash val="solid"/>
                    </a:lnR>
                    <a:lnB w="9525">
                      <a:solidFill>
                        <a:srgbClr val="D8E0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72638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MCP Tool: 상태·CPU·메모리·알림 조회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E0EC"/>
                      </a:solidFill>
                      <a:prstDash val="solid"/>
                    </a:lnR>
                    <a:lnB w="9525">
                      <a:solidFill>
                        <a:srgbClr val="D8E0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72638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이력 저장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8E0EC"/>
                      </a:solidFill>
                      <a:prstDash val="solid"/>
                    </a:lnL>
                    <a:lnR w="9525">
                      <a:solidFill>
                        <a:srgbClr val="D8E0EC"/>
                      </a:solidFill>
                      <a:prstDash val="solid"/>
                    </a:lnR>
                    <a:lnB w="9525">
                      <a:solidFill>
                        <a:srgbClr val="D8E0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72638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recovery_store.py: 대화·서비스별 SQLite 저장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E0EC"/>
                      </a:solidFill>
                      <a:prstDash val="solid"/>
                    </a:lnR>
                    <a:lnB w="9525">
                      <a:solidFill>
                        <a:srgbClr val="D8E0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72638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변화·복구·재발 판정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8E0EC"/>
                      </a:solidFill>
                      <a:prstDash val="solid"/>
                    </a:lnL>
                    <a:lnR w="9525">
                      <a:solidFill>
                        <a:srgbClr val="D8E0EC"/>
                      </a:solidFill>
                      <a:prstDash val="solid"/>
                    </a:lnR>
                    <a:lnB w="9525">
                      <a:solidFill>
                        <a:srgbClr val="D8E0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72638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recovery.py: 자료·정책·시계로 계산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E0EC"/>
                      </a:solidFill>
                      <a:prstDash val="solid"/>
                    </a:lnR>
                    <a:lnB w="9525">
                      <a:solidFill>
                        <a:srgbClr val="D8E0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72638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응답·보고서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8E0EC"/>
                      </a:solidFill>
                      <a:prstDash val="solid"/>
                    </a:lnL>
                    <a:lnR w="9525">
                      <a:solidFill>
                        <a:srgbClr val="D8E0EC"/>
                      </a:solidFill>
                      <a:prstDash val="solid"/>
                    </a:lnR>
                    <a:lnB w="9525">
                      <a:solidFill>
                        <a:srgbClr val="D8E0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72638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정책 판정과 이력 제공, Markdown 다운로드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E0EC"/>
                      </a:solidFill>
                      <a:prstDash val="solid"/>
                    </a:lnR>
                    <a:lnB w="9525">
                      <a:solidFill>
                        <a:srgbClr val="D8E0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-3-2">
            <a:extLst xmlns:a="http://schemas.openxmlformats.org/drawingml/2006/main">
              <a:ext uri="{FF2B5EF4-FFF2-40B4-BE49-F238E27FC236}">
                <a16:creationId xmlns:a16="http://schemas.microsoft.com/office/drawing/2014/main" id="{3990C1F9-DE8A-4053-9311-E85E45999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62625"/>
            <a:ext cx="1085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875" b="0">
                <a:solidFill>
                  <a:srgbClr val="596A7B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875" b="0">
                <a:solidFill>
                  <a:srgbClr val="596A7B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875" b="0">
                <a:solidFill>
                  <a:srgbClr val="596A7B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875" b="0">
                <a:solidFill>
                  <a:srgbClr val="596A7B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875" b="0">
                <a:solidFill>
                  <a:srgbClr val="596A7B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875" b="0">
                <a:solidFill>
                  <a:srgbClr val="596A7B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875" b="0">
                <a:solidFill>
                  <a:srgbClr val="596A7B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875" b="0">
                <a:solidFill>
                  <a:srgbClr val="596A7B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875" b="0">
                <a:solidFill>
                  <a:srgbClr val="596A7B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875" b="0">
                <a:solidFill>
                  <a:srgbClr val="596A7B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596A7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0">
                <a:solidFill>
                  <a:srgbClr val="596A7B"/>
                </a:solidFill>
                <a:latin typeface="Apple SD Gothic Neo"/>
                <a:ea typeface="Apple SD Gothic Neo"/>
                <a:cs typeface="Apple SD Gothic Neo"/>
              </a:rPr>
              <a:t>기존 자연어 진단에는 LLM을 사용하고, 새 복구 판정은 코드로 계산합니다.</a:t>
            </a:r>
          </a:p>
        </p:txBody>
      </p:sp>
    </p:spTree>
    <p:extLst>
      <p:ext uri="{BB962C8B-B14F-4D97-AF65-F5344CB8AC3E}">
        <p14:creationId xmlns:p14="http://schemas.microsoft.com/office/powerpoint/2010/main" val="168671664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AFB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ext-4-0">
            <a:extLst xmlns:a="http://schemas.openxmlformats.org/drawingml/2006/main">
              <a:ext uri="{FF2B5EF4-FFF2-40B4-BE49-F238E27FC236}">
                <a16:creationId xmlns:a16="http://schemas.microsoft.com/office/drawing/2014/main" id="{A9DF2446-7707-4508-BDDE-F1098F94E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6250"/>
            <a:ext cx="10858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3300" b="1">
                <a:solidFill>
                  <a:srgbClr val="172638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3300" b="1">
                <a:solidFill>
                  <a:srgbClr val="172638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3300" b="1">
                <a:solidFill>
                  <a:srgbClr val="172638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3300" b="1">
                <a:solidFill>
                  <a:srgbClr val="172638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3300" b="1">
                <a:solidFill>
                  <a:srgbClr val="172638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3300" b="1">
                <a:solidFill>
                  <a:srgbClr val="172638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3300" b="1">
                <a:solidFill>
                  <a:srgbClr val="172638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3300" b="1">
                <a:solidFill>
                  <a:srgbClr val="172638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3300" b="1">
                <a:solidFill>
                  <a:srgbClr val="172638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3300" b="1">
                <a:solidFill>
                  <a:srgbClr val="172638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7263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300" b="1">
                <a:solidFill>
                  <a:srgbClr val="172638"/>
                </a:solidFill>
                <a:latin typeface="Apple SD Gothic Neo"/>
                <a:ea typeface="Apple SD Gothic Neo"/>
                <a:cs typeface="Apple SD Gothic Neo"/>
              </a:rPr>
              <a:t>복구 판정 정책</a:t>
            </a:r>
          </a:p>
        </p:txBody>
      </p:sp>
      <p:sp>
        <p:nvSpPr>
          <p:cNvPr id="2" name="text-4-1">
            <a:extLst xmlns:a="http://schemas.openxmlformats.org/drawingml/2006/main">
              <a:ext uri="{FF2B5EF4-FFF2-40B4-BE49-F238E27FC236}">
                <a16:creationId xmlns:a16="http://schemas.microsoft.com/office/drawing/2014/main" id="{E94BF924-B7ED-4B1A-BF19-EEC19B956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34125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350" b="0">
                <a:solidFill>
                  <a:srgbClr val="596A7B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350" b="0">
                <a:solidFill>
                  <a:srgbClr val="596A7B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350" b="0">
                <a:solidFill>
                  <a:srgbClr val="596A7B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350" b="0">
                <a:solidFill>
                  <a:srgbClr val="596A7B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350" b="0">
                <a:solidFill>
                  <a:srgbClr val="596A7B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350" b="0">
                <a:solidFill>
                  <a:srgbClr val="596A7B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350" b="0">
                <a:solidFill>
                  <a:srgbClr val="596A7B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350" b="0">
                <a:solidFill>
                  <a:srgbClr val="596A7B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350" b="0">
                <a:solidFill>
                  <a:srgbClr val="596A7B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350" b="0">
                <a:solidFill>
                  <a:srgbClr val="596A7B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96A7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596A7B"/>
                </a:solidFill>
                <a:latin typeface="Apple SD Gothic Neo"/>
                <a:ea typeface="Apple SD Gothic Neo"/>
                <a:cs typeface="Apple SD Gothic Neo"/>
              </a:rPr>
              <a:t>04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3E9EBAD-BEDA-4DA9-A37D-706AF969899A}"/>
              </a:ext>
            </a:extLst>
          </p:cNvPr>
          <p:cNvGraphicFramePr/>
          <p:nvPr/>
        </p:nvGraphicFramePr>
        <p:xfrm>
          <a:off xmlns:a="http://schemas.openxmlformats.org/drawingml/2006/main" x="666750" y="1428750"/>
          <a:ext xmlns:a="http://schemas.openxmlformats.org/drawingml/2006/main" cx="10858500" cy="400050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3048000"/>
                <a:gridCol w="7810500"/>
              </a:tblGrid>
              <a:tr h="6667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3058B8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조건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8E0EC"/>
                      </a:solidFill>
                      <a:prstDash val="solid"/>
                    </a:lnL>
                    <a:lnR w="9525">
                      <a:solidFill>
                        <a:srgbClr val="D8E0EC"/>
                      </a:solidFill>
                      <a:prstDash val="solid"/>
                    </a:lnR>
                    <a:lnT w="9525">
                      <a:solidFill>
                        <a:srgbClr val="D8E0EC"/>
                      </a:solidFill>
                      <a:prstDash val="solid"/>
                    </a:lnT>
                    <a:lnB w="9525">
                      <a:solidFill>
                        <a:srgbClr val="D8E0EC"/>
                      </a:solidFill>
                      <a:prstDash val="solid"/>
                    </a:lnB>
                    <a:solidFill>
                      <a:srgbClr val="EAF0F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3058B8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기본 기준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E0EC"/>
                      </a:solidFill>
                      <a:prstDash val="solid"/>
                    </a:lnR>
                    <a:lnT w="9525">
                      <a:solidFill>
                        <a:srgbClr val="D8E0EC"/>
                      </a:solidFill>
                      <a:prstDash val="solid"/>
                    </a:lnT>
                    <a:lnB w="9525">
                      <a:solidFill>
                        <a:srgbClr val="D8E0EC"/>
                      </a:solidFill>
                      <a:prstDash val="solid"/>
                    </a:lnB>
                    <a:solidFill>
                      <a:srgbClr val="EAF0FB"/>
                    </a:solidFill>
                  </a:tcPr>
                </a:tc>
              </a:tr>
              <a:tr h="6667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72638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정상 관측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8E0EC"/>
                      </a:solidFill>
                      <a:prstDash val="solid"/>
                    </a:lnL>
                    <a:lnR w="9525">
                      <a:solidFill>
                        <a:srgbClr val="D8E0EC"/>
                      </a:solidFill>
                      <a:prstDash val="solid"/>
                    </a:lnR>
                    <a:lnB w="9525">
                      <a:solidFill>
                        <a:srgbClr val="D8E0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72638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healthy, CPU &lt; 80%, 메모리 &lt; 85%, 알림 0건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E0EC"/>
                      </a:solidFill>
                      <a:prstDash val="solid"/>
                    </a:lnR>
                    <a:lnB w="9525">
                      <a:solidFill>
                        <a:srgbClr val="D8E0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72638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복구 확인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8E0EC"/>
                      </a:solidFill>
                      <a:prstDash val="solid"/>
                    </a:lnL>
                    <a:lnR w="9525">
                      <a:solidFill>
                        <a:srgbClr val="D8E0EC"/>
                      </a:solidFill>
                      <a:prstDash val="solid"/>
                    </a:lnR>
                    <a:lnB w="9525">
                      <a:solidFill>
                        <a:srgbClr val="D8E0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72638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최근 장애 이후 정상 2회, 최소 관측 간격 5초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E0EC"/>
                      </a:solidFill>
                      <a:prstDash val="solid"/>
                    </a:lnR>
                    <a:lnB w="9525">
                      <a:solidFill>
                        <a:srgbClr val="D8E0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72638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자료 유효시간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8E0EC"/>
                      </a:solidFill>
                      <a:prstDash val="solid"/>
                    </a:lnL>
                    <a:lnR w="9525">
                      <a:solidFill>
                        <a:srgbClr val="D8E0EC"/>
                      </a:solidFill>
                      <a:prstDash val="solid"/>
                    </a:lnR>
                    <a:lnB w="9525">
                      <a:solidFill>
                        <a:srgbClr val="D8E0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72638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300초를 넘으면 판단 보류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E0EC"/>
                      </a:solidFill>
                      <a:prstDash val="solid"/>
                    </a:lnR>
                    <a:lnB w="9525">
                      <a:solidFill>
                        <a:srgbClr val="D8E0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72638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재발 감지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8E0EC"/>
                      </a:solidFill>
                      <a:prstDash val="solid"/>
                    </a:lnL>
                    <a:lnR w="9525">
                      <a:solidFill>
                        <a:srgbClr val="D8E0EC"/>
                      </a:solidFill>
                      <a:prstDash val="solid"/>
                    </a:lnR>
                    <a:lnB w="9525">
                      <a:solidFill>
                        <a:srgbClr val="D8E0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72638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복구 확인 후 3600초 안에 이상 재관측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E0EC"/>
                      </a:solidFill>
                      <a:prstDash val="solid"/>
                    </a:lnR>
                    <a:lnB w="9525">
                      <a:solidFill>
                        <a:srgbClr val="D8E0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72638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자료 부족·중복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8E0EC"/>
                      </a:solidFill>
                      <a:prstDash val="solid"/>
                    </a:lnL>
                    <a:lnR w="9525">
                      <a:solidFill>
                        <a:srgbClr val="D8E0EC"/>
                      </a:solidFill>
                      <a:prstDash val="solid"/>
                    </a:lnR>
                    <a:lnB w="9525">
                      <a:solidFill>
                        <a:srgbClr val="D8E0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72638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이전 장애 없으면 확정 보류, 동일 ID는 1회만 집계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E0EC"/>
                      </a:solidFill>
                      <a:prstDash val="solid"/>
                    </a:lnR>
                    <a:lnB w="9525">
                      <a:solidFill>
                        <a:srgbClr val="D8E0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-4-2">
            <a:extLst xmlns:a="http://schemas.openxmlformats.org/drawingml/2006/main">
              <a:ext uri="{FF2B5EF4-FFF2-40B4-BE49-F238E27FC236}">
                <a16:creationId xmlns:a16="http://schemas.microsoft.com/office/drawing/2014/main" id="{D1B58A27-ED41-40DF-8392-4792FC281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62625"/>
            <a:ext cx="1085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875" b="0">
                <a:solidFill>
                  <a:srgbClr val="596A7B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875" b="0">
                <a:solidFill>
                  <a:srgbClr val="596A7B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875" b="0">
                <a:solidFill>
                  <a:srgbClr val="596A7B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875" b="0">
                <a:solidFill>
                  <a:srgbClr val="596A7B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875" b="0">
                <a:solidFill>
                  <a:srgbClr val="596A7B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875" b="0">
                <a:solidFill>
                  <a:srgbClr val="596A7B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875" b="0">
                <a:solidFill>
                  <a:srgbClr val="596A7B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875" b="0">
                <a:solidFill>
                  <a:srgbClr val="596A7B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875" b="0">
                <a:solidFill>
                  <a:srgbClr val="596A7B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875" b="0">
                <a:solidFill>
                  <a:srgbClr val="596A7B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596A7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0">
                <a:solidFill>
                  <a:srgbClr val="596A7B"/>
                </a:solidFill>
                <a:latin typeface="Apple SD Gothic Neo"/>
                <a:ea typeface="Apple SD Gothic Neo"/>
                <a:cs typeface="Apple SD Gothic Neo"/>
              </a:rPr>
              <a:t>동일 ID의 내용 충돌·조회 실패·미래 시각·순서 오류도 복구로 확정하지 않습니다.</a:t>
            </a:r>
          </a:p>
        </p:txBody>
      </p:sp>
    </p:spTree>
    <p:extLst>
      <p:ext uri="{BB962C8B-B14F-4D97-AF65-F5344CB8AC3E}">
        <p14:creationId xmlns:p14="http://schemas.microsoft.com/office/powerpoint/2010/main" val="58527252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AFB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ext-5-0">
            <a:extLst xmlns:a="http://schemas.openxmlformats.org/drawingml/2006/main">
              <a:ext uri="{FF2B5EF4-FFF2-40B4-BE49-F238E27FC236}">
                <a16:creationId xmlns:a16="http://schemas.microsoft.com/office/drawing/2014/main" id="{C1C6E94B-4133-4744-AF16-6F57F76CF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6250"/>
            <a:ext cx="10858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3300" b="1">
                <a:solidFill>
                  <a:srgbClr val="172638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3300" b="1">
                <a:solidFill>
                  <a:srgbClr val="172638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3300" b="1">
                <a:solidFill>
                  <a:srgbClr val="172638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3300" b="1">
                <a:solidFill>
                  <a:srgbClr val="172638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3300" b="1">
                <a:solidFill>
                  <a:srgbClr val="172638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3300" b="1">
                <a:solidFill>
                  <a:srgbClr val="172638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3300" b="1">
                <a:solidFill>
                  <a:srgbClr val="172638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3300" b="1">
                <a:solidFill>
                  <a:srgbClr val="172638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3300" b="1">
                <a:solidFill>
                  <a:srgbClr val="172638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3300" b="1">
                <a:solidFill>
                  <a:srgbClr val="172638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7263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300" b="1">
                <a:solidFill>
                  <a:srgbClr val="172638"/>
                </a:solidFill>
                <a:latin typeface="Apple SD Gothic Neo"/>
                <a:ea typeface="Apple SD Gothic Neo"/>
                <a:cs typeface="Apple SD Gothic Neo"/>
              </a:rPr>
              <a:t>연속 정상 관측 후 복구 확인</a:t>
            </a:r>
          </a:p>
        </p:txBody>
      </p:sp>
      <p:sp>
        <p:nvSpPr>
          <p:cNvPr id="2" name="text-5-1">
            <a:extLst xmlns:a="http://schemas.openxmlformats.org/drawingml/2006/main">
              <a:ext uri="{FF2B5EF4-FFF2-40B4-BE49-F238E27FC236}">
                <a16:creationId xmlns:a16="http://schemas.microsoft.com/office/drawing/2014/main" id="{007AE82B-D50A-4AA4-B5F7-380BEFA79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34125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350" b="0">
                <a:solidFill>
                  <a:srgbClr val="596A7B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350" b="0">
                <a:solidFill>
                  <a:srgbClr val="596A7B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350" b="0">
                <a:solidFill>
                  <a:srgbClr val="596A7B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350" b="0">
                <a:solidFill>
                  <a:srgbClr val="596A7B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350" b="0">
                <a:solidFill>
                  <a:srgbClr val="596A7B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350" b="0">
                <a:solidFill>
                  <a:srgbClr val="596A7B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350" b="0">
                <a:solidFill>
                  <a:srgbClr val="596A7B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350" b="0">
                <a:solidFill>
                  <a:srgbClr val="596A7B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350" b="0">
                <a:solidFill>
                  <a:srgbClr val="596A7B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350" b="0">
                <a:solidFill>
                  <a:srgbClr val="596A7B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96A7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596A7B"/>
                </a:solidFill>
                <a:latin typeface="Apple SD Gothic Neo"/>
                <a:ea typeface="Apple SD Gothic Neo"/>
                <a:cs typeface="Apple SD Gothic Neo"/>
              </a:rPr>
              <a:t>05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60FAAD6-74FA-4865-8A7A-927D2F2D451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4bffd21f3fc4a69"/>
          <a:stretch xmlns:a="http://schemas.openxmlformats.org/drawingml/2006/main"/>
        </p:blipFill>
        <p:spPr>
          <a:xfrm xmlns:a="http://schemas.openxmlformats.org/drawingml/2006/main">
            <a:off x="1430495" y="1381125"/>
            <a:ext cx="9331009" cy="4714875"/>
          </a:xfrm>
          <a:prstGeom xmlns:a="http://schemas.openxmlformats.org/drawingml/2006/main" prst="rect">
            <a:avLst/>
          </a:prstGeom>
        </p:spPr>
      </p:pic>
      <p:sp>
        <p:nvSpPr>
          <p:cNvPr id="4" name="text-5-2">
            <a:extLst xmlns:a="http://schemas.openxmlformats.org/drawingml/2006/main">
              <a:ext uri="{FF2B5EF4-FFF2-40B4-BE49-F238E27FC236}">
                <a16:creationId xmlns:a16="http://schemas.microsoft.com/office/drawing/2014/main" id="{D04BA8E9-3D92-4568-A0C8-4C8E95F5A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200775"/>
            <a:ext cx="1057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725" b="0">
                <a:solidFill>
                  <a:srgbClr val="596A7B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725" b="0">
                <a:solidFill>
                  <a:srgbClr val="596A7B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725" b="0">
                <a:solidFill>
                  <a:srgbClr val="596A7B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725" b="0">
                <a:solidFill>
                  <a:srgbClr val="596A7B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725" b="0">
                <a:solidFill>
                  <a:srgbClr val="596A7B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725" b="0">
                <a:solidFill>
                  <a:srgbClr val="596A7B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725" b="0">
                <a:solidFill>
                  <a:srgbClr val="596A7B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725" b="0">
                <a:solidFill>
                  <a:srgbClr val="596A7B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725" b="0">
                <a:solidFill>
                  <a:srgbClr val="596A7B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725" b="0">
                <a:solidFill>
                  <a:srgbClr val="596A7B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596A7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596A7B"/>
                </a:solidFill>
                <a:latin typeface="Apple SD Gothic Neo"/>
                <a:ea typeface="Apple SD Gothic Neo"/>
                <a:cs typeface="Apple SD Gothic Neo"/>
              </a:rPr>
              <a:t>정상 첫 관측은 부분 회복으로 안내하고, 정상 2회 조건을 충족하면 복구를 확인합니다.</a:t>
            </a:r>
          </a:p>
        </p:txBody>
      </p:sp>
    </p:spTree>
    <p:extLst>
      <p:ext uri="{BB962C8B-B14F-4D97-AF65-F5344CB8AC3E}">
        <p14:creationId xmlns:p14="http://schemas.microsoft.com/office/powerpoint/2010/main" val="164977645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AFB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ext-6-0">
            <a:extLst xmlns:a="http://schemas.openxmlformats.org/drawingml/2006/main">
              <a:ext uri="{FF2B5EF4-FFF2-40B4-BE49-F238E27FC236}">
                <a16:creationId xmlns:a16="http://schemas.microsoft.com/office/drawing/2014/main" id="{4822351E-58D8-4528-9A47-E2F959B8A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6250"/>
            <a:ext cx="10858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3300" b="1">
                <a:solidFill>
                  <a:srgbClr val="172638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3300" b="1">
                <a:solidFill>
                  <a:srgbClr val="172638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3300" b="1">
                <a:solidFill>
                  <a:srgbClr val="172638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3300" b="1">
                <a:solidFill>
                  <a:srgbClr val="172638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3300" b="1">
                <a:solidFill>
                  <a:srgbClr val="172638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3300" b="1">
                <a:solidFill>
                  <a:srgbClr val="172638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3300" b="1">
                <a:solidFill>
                  <a:srgbClr val="172638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3300" b="1">
                <a:solidFill>
                  <a:srgbClr val="172638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3300" b="1">
                <a:solidFill>
                  <a:srgbClr val="172638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3300" b="1">
                <a:solidFill>
                  <a:srgbClr val="172638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7263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300" b="1">
                <a:solidFill>
                  <a:srgbClr val="172638"/>
                </a:solidFill>
                <a:latin typeface="Apple SD Gothic Neo"/>
                <a:ea typeface="Apple SD Gothic Neo"/>
                <a:cs typeface="Apple SD Gothic Neo"/>
              </a:rPr>
              <a:t>재발 감지와 조사 기록</a:t>
            </a:r>
          </a:p>
        </p:txBody>
      </p:sp>
      <p:sp>
        <p:nvSpPr>
          <p:cNvPr id="2" name="text-6-1">
            <a:extLst xmlns:a="http://schemas.openxmlformats.org/drawingml/2006/main">
              <a:ext uri="{FF2B5EF4-FFF2-40B4-BE49-F238E27FC236}">
                <a16:creationId xmlns:a16="http://schemas.microsoft.com/office/drawing/2014/main" id="{8B23BF13-4BFC-485A-AD1E-C4026882F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34125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350" b="0">
                <a:solidFill>
                  <a:srgbClr val="596A7B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350" b="0">
                <a:solidFill>
                  <a:srgbClr val="596A7B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350" b="0">
                <a:solidFill>
                  <a:srgbClr val="596A7B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350" b="0">
                <a:solidFill>
                  <a:srgbClr val="596A7B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350" b="0">
                <a:solidFill>
                  <a:srgbClr val="596A7B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350" b="0">
                <a:solidFill>
                  <a:srgbClr val="596A7B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350" b="0">
                <a:solidFill>
                  <a:srgbClr val="596A7B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350" b="0">
                <a:solidFill>
                  <a:srgbClr val="596A7B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350" b="0">
                <a:solidFill>
                  <a:srgbClr val="596A7B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350" b="0">
                <a:solidFill>
                  <a:srgbClr val="596A7B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96A7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596A7B"/>
                </a:solidFill>
                <a:latin typeface="Apple SD Gothic Neo"/>
                <a:ea typeface="Apple SD Gothic Neo"/>
                <a:cs typeface="Apple SD Gothic Neo"/>
              </a:rPr>
              <a:t>06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8FF969A-2AA9-4661-96F3-A987F0723B1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4df0e1a0d2049a1"/>
          <a:stretch xmlns:a="http://schemas.openxmlformats.org/drawingml/2006/main"/>
        </p:blipFill>
        <p:spPr>
          <a:xfrm xmlns:a="http://schemas.openxmlformats.org/drawingml/2006/main">
            <a:off x="1430495" y="1381125"/>
            <a:ext cx="9331009" cy="4714875"/>
          </a:xfrm>
          <a:prstGeom xmlns:a="http://schemas.openxmlformats.org/drawingml/2006/main" prst="rect">
            <a:avLst/>
          </a:prstGeom>
        </p:spPr>
      </p:pic>
      <p:sp>
        <p:nvSpPr>
          <p:cNvPr id="4" name="text-6-2">
            <a:extLst xmlns:a="http://schemas.openxmlformats.org/drawingml/2006/main">
              <a:ext uri="{FF2B5EF4-FFF2-40B4-BE49-F238E27FC236}">
                <a16:creationId xmlns:a16="http://schemas.microsoft.com/office/drawing/2014/main" id="{428473D4-35C1-41D3-A924-E9C111118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200775"/>
            <a:ext cx="1057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725" b="0">
                <a:solidFill>
                  <a:srgbClr val="596A7B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725" b="0">
                <a:solidFill>
                  <a:srgbClr val="596A7B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725" b="0">
                <a:solidFill>
                  <a:srgbClr val="596A7B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725" b="0">
                <a:solidFill>
                  <a:srgbClr val="596A7B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725" b="0">
                <a:solidFill>
                  <a:srgbClr val="596A7B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725" b="0">
                <a:solidFill>
                  <a:srgbClr val="596A7B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725" b="0">
                <a:solidFill>
                  <a:srgbClr val="596A7B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725" b="0">
                <a:solidFill>
                  <a:srgbClr val="596A7B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725" b="0">
                <a:solidFill>
                  <a:srgbClr val="596A7B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725" b="0">
                <a:solidFill>
                  <a:srgbClr val="596A7B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596A7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596A7B"/>
                </a:solidFill>
                <a:latin typeface="Apple SD Gothic Neo"/>
                <a:ea typeface="Apple SD Gothic Neo"/>
                <a:cs typeface="Apple SD Gothic Neo"/>
              </a:rPr>
              <a:t>복구 이후 이상이 다시 나타나면 재발로 표시하고, 이력과 보고서에 근거를 남깁니다.</a:t>
            </a:r>
          </a:p>
        </p:txBody>
      </p:sp>
    </p:spTree>
    <p:extLst>
      <p:ext uri="{BB962C8B-B14F-4D97-AF65-F5344CB8AC3E}">
        <p14:creationId xmlns:p14="http://schemas.microsoft.com/office/powerpoint/2010/main" val="27524163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AFB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-7-0">
            <a:extLst xmlns:a="http://schemas.openxmlformats.org/drawingml/2006/main">
              <a:ext uri="{FF2B5EF4-FFF2-40B4-BE49-F238E27FC236}">
                <a16:creationId xmlns:a16="http://schemas.microsoft.com/office/drawing/2014/main" id="{F69CDE3A-BEB2-4EDC-98A7-43257095C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6250"/>
            <a:ext cx="10858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3300" b="1">
                <a:solidFill>
                  <a:srgbClr val="172638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3300" b="1">
                <a:solidFill>
                  <a:srgbClr val="172638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3300" b="1">
                <a:solidFill>
                  <a:srgbClr val="172638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3300" b="1">
                <a:solidFill>
                  <a:srgbClr val="172638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3300" b="1">
                <a:solidFill>
                  <a:srgbClr val="172638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3300" b="1">
                <a:solidFill>
                  <a:srgbClr val="172638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3300" b="1">
                <a:solidFill>
                  <a:srgbClr val="172638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3300" b="1">
                <a:solidFill>
                  <a:srgbClr val="172638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3300" b="1">
                <a:solidFill>
                  <a:srgbClr val="172638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3300" b="1">
                <a:solidFill>
                  <a:srgbClr val="172638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7263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300" b="1">
                <a:solidFill>
                  <a:srgbClr val="172638"/>
                </a:solidFill>
                <a:latin typeface="Apple SD Gothic Neo"/>
                <a:ea typeface="Apple SD Gothic Neo"/>
                <a:cs typeface="Apple SD Gothic Neo"/>
              </a:rPr>
              <a:t>같은 관측으로 개선 전후 비교</a:t>
            </a:r>
          </a:p>
        </p:txBody>
      </p:sp>
      <p:sp>
        <p:nvSpPr>
          <p:cNvPr id="2" name="text-7-1">
            <a:extLst xmlns:a="http://schemas.openxmlformats.org/drawingml/2006/main">
              <a:ext uri="{FF2B5EF4-FFF2-40B4-BE49-F238E27FC236}">
                <a16:creationId xmlns:a16="http://schemas.microsoft.com/office/drawing/2014/main" id="{FC450811-BDAA-485E-96F5-FB4B2F085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34125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350" b="0">
                <a:solidFill>
                  <a:srgbClr val="596A7B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350" b="0">
                <a:solidFill>
                  <a:srgbClr val="596A7B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350" b="0">
                <a:solidFill>
                  <a:srgbClr val="596A7B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350" b="0">
                <a:solidFill>
                  <a:srgbClr val="596A7B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350" b="0">
                <a:solidFill>
                  <a:srgbClr val="596A7B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350" b="0">
                <a:solidFill>
                  <a:srgbClr val="596A7B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350" b="0">
                <a:solidFill>
                  <a:srgbClr val="596A7B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350" b="0">
                <a:solidFill>
                  <a:srgbClr val="596A7B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350" b="0">
                <a:solidFill>
                  <a:srgbClr val="596A7B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350" b="0">
                <a:solidFill>
                  <a:srgbClr val="596A7B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96A7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596A7B"/>
                </a:solidFill>
                <a:latin typeface="Apple SD Gothic Neo"/>
                <a:ea typeface="Apple SD Gothic Neo"/>
                <a:cs typeface="Apple SD Gothic Neo"/>
              </a:rPr>
              <a:t>07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D813829-0963-4B59-893D-FF21F5EEF9D2}"/>
              </a:ext>
            </a:extLst>
          </p:cNvPr>
          <p:cNvGraphicFramePr/>
          <p:nvPr/>
        </p:nvGraphicFramePr>
        <p:xfrm>
          <a:off xmlns:a="http://schemas.openxmlformats.org/drawingml/2006/main" x="666750" y="1524000"/>
          <a:ext xmlns:a="http://schemas.openxmlformats.org/drawingml/2006/main" cx="10858500" cy="285750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5905500"/>
                <a:gridCol w="2476500"/>
                <a:gridCol w="2476500"/>
              </a:tblGrid>
              <a:tr h="7143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3058B8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고정 시나리오의 관측 항목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8E0EC"/>
                      </a:solidFill>
                      <a:prstDash val="solid"/>
                    </a:lnL>
                    <a:lnR w="9525">
                      <a:solidFill>
                        <a:srgbClr val="D8E0EC"/>
                      </a:solidFill>
                      <a:prstDash val="solid"/>
                    </a:lnR>
                    <a:lnT w="9525">
                      <a:solidFill>
                        <a:srgbClr val="D8E0EC"/>
                      </a:solidFill>
                      <a:prstDash val="solid"/>
                    </a:lnT>
                    <a:lnB w="9525">
                      <a:solidFill>
                        <a:srgbClr val="D8E0EC"/>
                      </a:solidFill>
                      <a:prstDash val="solid"/>
                    </a:lnB>
                    <a:solidFill>
                      <a:srgbClr val="EAF0F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3058B8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원본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E0EC"/>
                      </a:solidFill>
                      <a:prstDash val="solid"/>
                    </a:lnR>
                    <a:lnT w="9525">
                      <a:solidFill>
                        <a:srgbClr val="D8E0EC"/>
                      </a:solidFill>
                      <a:prstDash val="solid"/>
                    </a:lnT>
                    <a:lnB w="9525">
                      <a:solidFill>
                        <a:srgbClr val="D8E0EC"/>
                      </a:solidFill>
                      <a:prstDash val="solid"/>
                    </a:lnB>
                    <a:solidFill>
                      <a:srgbClr val="EAF0F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3058B8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개선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E0EC"/>
                      </a:solidFill>
                      <a:prstDash val="solid"/>
                    </a:lnR>
                    <a:lnT w="9525">
                      <a:solidFill>
                        <a:srgbClr val="D8E0EC"/>
                      </a:solidFill>
                      <a:prstDash val="solid"/>
                    </a:lnT>
                    <a:lnB w="9525">
                      <a:solidFill>
                        <a:srgbClr val="D8E0EC"/>
                      </a:solidFill>
                      <a:prstDash val="solid"/>
                    </a:lnB>
                    <a:solidFill>
                      <a:srgbClr val="EAF0FB"/>
                    </a:solidFill>
                  </a:tcPr>
                </a:tc>
              </a:tr>
              <a:tr h="7143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72638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정상 1회에서 조기 복구 확정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8E0EC"/>
                      </a:solidFill>
                      <a:prstDash val="solid"/>
                    </a:lnL>
                    <a:lnR w="9525">
                      <a:solidFill>
                        <a:srgbClr val="D8E0EC"/>
                      </a:solidFill>
                      <a:prstDash val="solid"/>
                    </a:lnR>
                    <a:lnB w="9525">
                      <a:solidFill>
                        <a:srgbClr val="D8E0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72638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3/3건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E0EC"/>
                      </a:solidFill>
                      <a:prstDash val="solid"/>
                    </a:lnR>
                    <a:lnB w="9525">
                      <a:solidFill>
                        <a:srgbClr val="D8E0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72638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0/3건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E0EC"/>
                      </a:solidFill>
                      <a:prstDash val="solid"/>
                    </a:lnR>
                    <a:lnB w="9525">
                      <a:solidFill>
                        <a:srgbClr val="D8E0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143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72638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복구 후 재발 명시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8E0EC"/>
                      </a:solidFill>
                      <a:prstDash val="solid"/>
                    </a:lnL>
                    <a:lnR w="9525">
                      <a:solidFill>
                        <a:srgbClr val="D8E0EC"/>
                      </a:solidFill>
                      <a:prstDash val="solid"/>
                    </a:lnR>
                    <a:lnB w="9525">
                      <a:solidFill>
                        <a:srgbClr val="D8E0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72638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0/3건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E0EC"/>
                      </a:solidFill>
                      <a:prstDash val="solid"/>
                    </a:lnR>
                    <a:lnB w="9525">
                      <a:solidFill>
                        <a:srgbClr val="D8E0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72638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3/3건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E0EC"/>
                      </a:solidFill>
                      <a:prstDash val="solid"/>
                    </a:lnR>
                    <a:lnB w="9525">
                      <a:solidFill>
                        <a:srgbClr val="D8E0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143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72638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정책 판정과 기대 결과 일치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8E0EC"/>
                      </a:solidFill>
                      <a:prstDash val="solid"/>
                    </a:lnL>
                    <a:lnR w="9525">
                      <a:solidFill>
                        <a:srgbClr val="D8E0EC"/>
                      </a:solidFill>
                      <a:prstDash val="solid"/>
                    </a:lnR>
                    <a:lnB w="9525">
                      <a:solidFill>
                        <a:srgbClr val="D8E0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72638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별도 원문 검토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E0EC"/>
                      </a:solidFill>
                      <a:prstDash val="solid"/>
                    </a:lnR>
                    <a:lnB w="9525">
                      <a:solidFill>
                        <a:srgbClr val="D8E0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72638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15/15건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E0EC"/>
                      </a:solidFill>
                      <a:prstDash val="solid"/>
                    </a:lnR>
                    <a:lnB w="9525">
                      <a:solidFill>
                        <a:srgbClr val="D8E0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-7-2">
            <a:extLst xmlns:a="http://schemas.openxmlformats.org/drawingml/2006/main">
              <a:ext uri="{FF2B5EF4-FFF2-40B4-BE49-F238E27FC236}">
                <a16:creationId xmlns:a16="http://schemas.microsoft.com/office/drawing/2014/main" id="{058C5B53-7CE0-45B8-A289-01C26769B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86300"/>
            <a:ext cx="10858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100" b="1">
                <a:solidFill>
                  <a:srgbClr val="3058B8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2100" b="1">
                <a:solidFill>
                  <a:srgbClr val="3058B8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2100" b="1">
                <a:solidFill>
                  <a:srgbClr val="3058B8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2100" b="1">
                <a:solidFill>
                  <a:srgbClr val="3058B8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2100" b="1">
                <a:solidFill>
                  <a:srgbClr val="3058B8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2100" b="1">
                <a:solidFill>
                  <a:srgbClr val="3058B8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2100" b="1">
                <a:solidFill>
                  <a:srgbClr val="3058B8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2100" b="1">
                <a:solidFill>
                  <a:srgbClr val="3058B8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2100" b="1">
                <a:solidFill>
                  <a:srgbClr val="3058B8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2100" b="1">
                <a:solidFill>
                  <a:srgbClr val="3058B8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3058B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1">
                <a:solidFill>
                  <a:srgbClr val="3058B8"/>
                </a:solidFill>
                <a:latin typeface="Apple SD Gothic Neo"/>
                <a:ea typeface="Apple SD Gothic Neo"/>
                <a:cs typeface="Apple SD Gothic Neo"/>
              </a:rPr>
              <a:t>그래프 지연 중앙값: 원본 28.79초 / 새 복구 경로 약 2.9ms</a:t>
            </a:r>
          </a:p>
        </p:txBody>
      </p:sp>
      <p:sp>
        <p:nvSpPr>
          <p:cNvPr id="5" name="text-7-3">
            <a:extLst xmlns:a="http://schemas.openxmlformats.org/drawingml/2006/main">
              <a:ext uri="{FF2B5EF4-FFF2-40B4-BE49-F238E27FC236}">
                <a16:creationId xmlns:a16="http://schemas.microsoft.com/office/drawing/2014/main" id="{4A280871-A3E9-4DDD-94A3-FE6E59AEA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38750"/>
            <a:ext cx="10858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596A7B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800" b="0">
                <a:solidFill>
                  <a:srgbClr val="596A7B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800" b="0">
                <a:solidFill>
                  <a:srgbClr val="596A7B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800" b="0">
                <a:solidFill>
                  <a:srgbClr val="596A7B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800" b="0">
                <a:solidFill>
                  <a:srgbClr val="596A7B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800" b="0">
                <a:solidFill>
                  <a:srgbClr val="596A7B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800" b="0">
                <a:solidFill>
                  <a:srgbClr val="596A7B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800" b="0">
                <a:solidFill>
                  <a:srgbClr val="596A7B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800" b="0">
                <a:solidFill>
                  <a:srgbClr val="596A7B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800" b="0">
                <a:solidFill>
                  <a:srgbClr val="596A7B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596A7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0">
                <a:solidFill>
                  <a:srgbClr val="596A7B"/>
                </a:solidFill>
                <a:latin typeface="Apple SD Gothic Neo"/>
                <a:ea typeface="Apple SD Gothic Neo"/>
                <a:cs typeface="Apple SD Gothic Neo"/>
              </a:rPr>
              <a:t>고정 I/O 비교이며 LLM 호출 생략 효과를 포함합니다. 실제 웹 응답시간과 구분합니다.</a:t>
            </a:r>
          </a:p>
        </p:txBody>
      </p:sp>
      <p:sp>
        <p:nvSpPr>
          <p:cNvPr id="6" name="text-7-4">
            <a:extLst xmlns:a="http://schemas.openxmlformats.org/drawingml/2006/main">
              <a:ext uri="{FF2B5EF4-FFF2-40B4-BE49-F238E27FC236}">
                <a16:creationId xmlns:a16="http://schemas.microsoft.com/office/drawing/2014/main" id="{7927687C-CDE9-4303-8A17-398E9A3CC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867400"/>
            <a:ext cx="1085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172638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800" b="0">
                <a:solidFill>
                  <a:srgbClr val="172638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800" b="0">
                <a:solidFill>
                  <a:srgbClr val="172638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800" b="0">
                <a:solidFill>
                  <a:srgbClr val="172638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800" b="0">
                <a:solidFill>
                  <a:srgbClr val="172638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800" b="0">
                <a:solidFill>
                  <a:srgbClr val="172638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800" b="0">
                <a:solidFill>
                  <a:srgbClr val="172638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800" b="0">
                <a:solidFill>
                  <a:srgbClr val="172638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800" b="0">
                <a:solidFill>
                  <a:srgbClr val="172638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800" b="0">
                <a:solidFill>
                  <a:srgbClr val="172638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17263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0">
                <a:solidFill>
                  <a:srgbClr val="172638"/>
                </a:solidFill>
                <a:latin typeface="Apple SD Gothic Neo"/>
                <a:ea typeface="Apple SD Gothic Neo"/>
                <a:cs typeface="Apple SD Gothic Neo"/>
              </a:rPr>
              <a:t>단위·실제 MCP/API 검사 20개 통과, 브라우저 이력·보고서 다운로드 확인</a:t>
            </a:r>
          </a:p>
        </p:txBody>
      </p:sp>
    </p:spTree>
    <p:extLst>
      <p:ext uri="{BB962C8B-B14F-4D97-AF65-F5344CB8AC3E}">
        <p14:creationId xmlns:p14="http://schemas.microsoft.com/office/powerpoint/2010/main" val="59989494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AFB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-8-0">
            <a:extLst xmlns:a="http://schemas.openxmlformats.org/drawingml/2006/main">
              <a:ext uri="{FF2B5EF4-FFF2-40B4-BE49-F238E27FC236}">
                <a16:creationId xmlns:a16="http://schemas.microsoft.com/office/drawing/2014/main" id="{ECC8DA02-0841-44DF-A3A0-7FAB65EEE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6250"/>
            <a:ext cx="10858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3300" b="1">
                <a:solidFill>
                  <a:srgbClr val="172638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3300" b="1">
                <a:solidFill>
                  <a:srgbClr val="172638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3300" b="1">
                <a:solidFill>
                  <a:srgbClr val="172638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3300" b="1">
                <a:solidFill>
                  <a:srgbClr val="172638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3300" b="1">
                <a:solidFill>
                  <a:srgbClr val="172638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3300" b="1">
                <a:solidFill>
                  <a:srgbClr val="172638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3300" b="1">
                <a:solidFill>
                  <a:srgbClr val="172638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3300" b="1">
                <a:solidFill>
                  <a:srgbClr val="172638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3300" b="1">
                <a:solidFill>
                  <a:srgbClr val="172638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3300" b="1">
                <a:solidFill>
                  <a:srgbClr val="172638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7263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300" b="1">
                <a:solidFill>
                  <a:srgbClr val="172638"/>
                </a:solidFill>
                <a:latin typeface="Apple SD Gothic Neo"/>
                <a:ea typeface="Apple SD Gothic Neo"/>
                <a:cs typeface="Apple SD Gothic Neo"/>
              </a:rPr>
              <a:t>한계와 추가 개선</a:t>
            </a:r>
          </a:p>
        </p:txBody>
      </p:sp>
      <p:sp>
        <p:nvSpPr>
          <p:cNvPr id="2" name="text-8-1">
            <a:extLst xmlns:a="http://schemas.openxmlformats.org/drawingml/2006/main">
              <a:ext uri="{FF2B5EF4-FFF2-40B4-BE49-F238E27FC236}">
                <a16:creationId xmlns:a16="http://schemas.microsoft.com/office/drawing/2014/main" id="{52DC59C1-993C-42D8-BEE7-DAEDB5BD5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34125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350" b="0">
                <a:solidFill>
                  <a:srgbClr val="596A7B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350" b="0">
                <a:solidFill>
                  <a:srgbClr val="596A7B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350" b="0">
                <a:solidFill>
                  <a:srgbClr val="596A7B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350" b="0">
                <a:solidFill>
                  <a:srgbClr val="596A7B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350" b="0">
                <a:solidFill>
                  <a:srgbClr val="596A7B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350" b="0">
                <a:solidFill>
                  <a:srgbClr val="596A7B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350" b="0">
                <a:solidFill>
                  <a:srgbClr val="596A7B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350" b="0">
                <a:solidFill>
                  <a:srgbClr val="596A7B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350" b="0">
                <a:solidFill>
                  <a:srgbClr val="596A7B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350" b="0">
                <a:solidFill>
                  <a:srgbClr val="596A7B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96A7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596A7B"/>
                </a:solidFill>
                <a:latin typeface="Apple SD Gothic Neo"/>
                <a:ea typeface="Apple SD Gothic Neo"/>
                <a:cs typeface="Apple SD Gothic Neo"/>
              </a:rPr>
              <a:t>08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38E0F19-B20B-4DC1-8372-5304FE563981}"/>
              </a:ext>
            </a:extLst>
          </p:cNvPr>
          <p:cNvGraphicFramePr/>
          <p:nvPr/>
        </p:nvGraphicFramePr>
        <p:xfrm>
          <a:off xmlns:a="http://schemas.openxmlformats.org/drawingml/2006/main" x="666750" y="1524000"/>
          <a:ext xmlns:a="http://schemas.openxmlformats.org/drawingml/2006/main" cx="10858500" cy="3381375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3619500"/>
                <a:gridCol w="7239000"/>
              </a:tblGrid>
              <a:tr h="6762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3058B8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이번 선택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8E0EC"/>
                      </a:solidFill>
                      <a:prstDash val="solid"/>
                    </a:lnL>
                    <a:lnR w="9525">
                      <a:solidFill>
                        <a:srgbClr val="D8E0EC"/>
                      </a:solidFill>
                      <a:prstDash val="solid"/>
                    </a:lnR>
                    <a:lnT w="9525">
                      <a:solidFill>
                        <a:srgbClr val="D8E0EC"/>
                      </a:solidFill>
                      <a:prstDash val="solid"/>
                    </a:lnT>
                    <a:lnB w="9525">
                      <a:solidFill>
                        <a:srgbClr val="D8E0EC"/>
                      </a:solidFill>
                      <a:prstDash val="solid"/>
                    </a:lnB>
                    <a:solidFill>
                      <a:srgbClr val="EAF0F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3058B8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한계와 후속 작업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E0EC"/>
                      </a:solidFill>
                      <a:prstDash val="solid"/>
                    </a:lnR>
                    <a:lnT w="9525">
                      <a:solidFill>
                        <a:srgbClr val="D8E0EC"/>
                      </a:solidFill>
                      <a:prstDash val="solid"/>
                    </a:lnT>
                    <a:lnB w="9525">
                      <a:solidFill>
                        <a:srgbClr val="D8E0EC"/>
                      </a:solidFill>
                      <a:prstDash val="solid"/>
                    </a:lnB>
                    <a:solidFill>
                      <a:srgbClr val="EAF0FB"/>
                    </a:solidFill>
                  </a:tcPr>
                </a:tc>
              </a:tr>
              <a:tr h="6762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72638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정상 2회·시간 간격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8E0EC"/>
                      </a:solidFill>
                      <a:prstDash val="solid"/>
                    </a:lnL>
                    <a:lnR w="9525">
                      <a:solidFill>
                        <a:srgbClr val="D8E0EC"/>
                      </a:solidFill>
                      <a:prstDash val="solid"/>
                    </a:lnR>
                    <a:lnB w="9525">
                      <a:solidFill>
                        <a:srgbClr val="D8E0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72638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복구 판정이 늦어질 수 있음. 서비스별 기준 필요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E0EC"/>
                      </a:solidFill>
                      <a:prstDash val="solid"/>
                    </a:lnR>
                    <a:lnB w="9525">
                      <a:solidFill>
                        <a:srgbClr val="D8E0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762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72638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샘플·합성 시나리오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8E0EC"/>
                      </a:solidFill>
                      <a:prstDash val="solid"/>
                    </a:lnL>
                    <a:lnR w="9525">
                      <a:solidFill>
                        <a:srgbClr val="D8E0EC"/>
                      </a:solidFill>
                      <a:prstDash val="solid"/>
                    </a:lnR>
                    <a:lnB w="9525">
                      <a:solidFill>
                        <a:srgbClr val="D8E0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72638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실제 사용자 결제 성공·원인 제거는 미확인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E0EC"/>
                      </a:solidFill>
                      <a:prstDash val="solid"/>
                    </a:lnR>
                    <a:lnB w="9525">
                      <a:solidFill>
                        <a:srgbClr val="D8E0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762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72638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SQLite 이력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8E0EC"/>
                      </a:solidFill>
                      <a:prstDash val="solid"/>
                    </a:lnL>
                    <a:lnR w="9525">
                      <a:solidFill>
                        <a:srgbClr val="D8E0EC"/>
                      </a:solidFill>
                      <a:prstDash val="solid"/>
                    </a:lnR>
                    <a:lnB w="9525">
                      <a:solidFill>
                        <a:srgbClr val="D8E0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72638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보관·정리 정책과 운영 권한 통제 필요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E0EC"/>
                      </a:solidFill>
                      <a:prstDash val="solid"/>
                    </a:lnR>
                    <a:lnB w="9525">
                      <a:solidFill>
                        <a:srgbClr val="D8E0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762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72638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코드 기반 복구 응답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8E0EC"/>
                      </a:solidFill>
                      <a:prstDash val="solid"/>
                    </a:lnL>
                    <a:lnR w="9525">
                      <a:solidFill>
                        <a:srgbClr val="D8E0EC"/>
                      </a:solidFill>
                      <a:prstDash val="solid"/>
                    </a:lnR>
                    <a:lnB w="9525">
                      <a:solidFill>
                        <a:srgbClr val="D8E0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72638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복잡한 원인 추정은 기존 LLM 진단과 구분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8E0EC"/>
                      </a:solidFill>
                      <a:prstDash val="solid"/>
                    </a:lnR>
                    <a:lnB w="9525">
                      <a:solidFill>
                        <a:srgbClr val="D8E0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-8-2">
            <a:extLst xmlns:a="http://schemas.openxmlformats.org/drawingml/2006/main">
              <a:ext uri="{FF2B5EF4-FFF2-40B4-BE49-F238E27FC236}">
                <a16:creationId xmlns:a16="http://schemas.microsoft.com/office/drawing/2014/main" id="{8B0DC638-EA39-48AE-BC8F-82554E4A5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305425"/>
            <a:ext cx="1085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100" b="1">
                <a:solidFill>
                  <a:srgbClr val="3058B8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2100" b="1">
                <a:solidFill>
                  <a:srgbClr val="3058B8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2100" b="1">
                <a:solidFill>
                  <a:srgbClr val="3058B8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2100" b="1">
                <a:solidFill>
                  <a:srgbClr val="3058B8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2100" b="1">
                <a:solidFill>
                  <a:srgbClr val="3058B8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2100" b="1">
                <a:solidFill>
                  <a:srgbClr val="3058B8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2100" b="1">
                <a:solidFill>
                  <a:srgbClr val="3058B8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2100" b="1">
                <a:solidFill>
                  <a:srgbClr val="3058B8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2100" b="1">
                <a:solidFill>
                  <a:srgbClr val="3058B8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2100" b="1">
                <a:solidFill>
                  <a:srgbClr val="3058B8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3058B8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1">
                <a:solidFill>
                  <a:srgbClr val="3058B8"/>
                </a:solidFill>
                <a:latin typeface="Apple SD Gothic Neo"/>
                <a:ea typeface="Apple SD Gothic Neo"/>
                <a:cs typeface="Apple SD Gothic Neo"/>
              </a:rPr>
              <a:t>남은 확인: 제공 API와 LangSmith 실제 연결</a:t>
            </a:r>
          </a:p>
        </p:txBody>
      </p:sp>
      <p:sp>
        <p:nvSpPr>
          <p:cNvPr id="5" name="text-8-3">
            <a:extLst xmlns:a="http://schemas.openxmlformats.org/drawingml/2006/main">
              <a:ext uri="{FF2B5EF4-FFF2-40B4-BE49-F238E27FC236}">
                <a16:creationId xmlns:a16="http://schemas.microsoft.com/office/drawing/2014/main" id="{FA486EF6-E2EC-42D5-A6D6-08059C3F8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05500"/>
            <a:ext cx="10858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950" b="0">
                <a:solidFill>
                  <a:srgbClr val="596A7B"/>
                </a:solidFill>
                <a:latin typeface="Apple SD Gothic Neo"/>
                <a:ea typeface="Apple SD Gothic Neo"/>
                <a:cs typeface="Apple SD Gothic Neo"/>
              </a:defRPr>
            </a:defPPr>
            <a:lvl1pPr>
              <a:defRPr sz="1950" b="0">
                <a:solidFill>
                  <a:srgbClr val="596A7B"/>
                </a:solidFill>
                <a:latin typeface="Apple SD Gothic Neo"/>
                <a:ea typeface="Apple SD Gothic Neo"/>
                <a:cs typeface="Apple SD Gothic Neo"/>
              </a:defRPr>
            </a:lvl1pPr>
            <a:lvl2pPr>
              <a:defRPr sz="1950" b="0">
                <a:solidFill>
                  <a:srgbClr val="596A7B"/>
                </a:solidFill>
                <a:latin typeface="Apple SD Gothic Neo"/>
                <a:ea typeface="Apple SD Gothic Neo"/>
                <a:cs typeface="Apple SD Gothic Neo"/>
              </a:defRPr>
            </a:lvl2pPr>
            <a:lvl3pPr>
              <a:defRPr sz="1950" b="0">
                <a:solidFill>
                  <a:srgbClr val="596A7B"/>
                </a:solidFill>
                <a:latin typeface="Apple SD Gothic Neo"/>
                <a:ea typeface="Apple SD Gothic Neo"/>
                <a:cs typeface="Apple SD Gothic Neo"/>
              </a:defRPr>
            </a:lvl3pPr>
            <a:lvl4pPr>
              <a:defRPr sz="1950" b="0">
                <a:solidFill>
                  <a:srgbClr val="596A7B"/>
                </a:solidFill>
                <a:latin typeface="Apple SD Gothic Neo"/>
                <a:ea typeface="Apple SD Gothic Neo"/>
                <a:cs typeface="Apple SD Gothic Neo"/>
              </a:defRPr>
            </a:lvl4pPr>
            <a:lvl5pPr>
              <a:defRPr sz="1950" b="0">
                <a:solidFill>
                  <a:srgbClr val="596A7B"/>
                </a:solidFill>
                <a:latin typeface="Apple SD Gothic Neo"/>
                <a:ea typeface="Apple SD Gothic Neo"/>
                <a:cs typeface="Apple SD Gothic Neo"/>
              </a:defRPr>
            </a:lvl5pPr>
            <a:lvl6pPr>
              <a:defRPr sz="1950" b="0">
                <a:solidFill>
                  <a:srgbClr val="596A7B"/>
                </a:solidFill>
                <a:latin typeface="Apple SD Gothic Neo"/>
                <a:ea typeface="Apple SD Gothic Neo"/>
                <a:cs typeface="Apple SD Gothic Neo"/>
              </a:defRPr>
            </a:lvl6pPr>
            <a:lvl7pPr>
              <a:defRPr sz="1950" b="0">
                <a:solidFill>
                  <a:srgbClr val="596A7B"/>
                </a:solidFill>
                <a:latin typeface="Apple SD Gothic Neo"/>
                <a:ea typeface="Apple SD Gothic Neo"/>
                <a:cs typeface="Apple SD Gothic Neo"/>
              </a:defRPr>
            </a:lvl7pPr>
            <a:lvl8pPr>
              <a:defRPr sz="1950" b="0">
                <a:solidFill>
                  <a:srgbClr val="596A7B"/>
                </a:solidFill>
                <a:latin typeface="Apple SD Gothic Neo"/>
                <a:ea typeface="Apple SD Gothic Neo"/>
                <a:cs typeface="Apple SD Gothic Neo"/>
              </a:defRPr>
            </a:lvl8pPr>
            <a:lvl9pPr>
              <a:defRPr sz="1950" b="0">
                <a:solidFill>
                  <a:srgbClr val="596A7B"/>
                </a:solidFill>
                <a:latin typeface="Apple SD Gothic Neo"/>
                <a:ea typeface="Apple SD Gothic Neo"/>
                <a:cs typeface="Apple SD Gothic Neo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596A7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950" b="0">
                <a:solidFill>
                  <a:srgbClr val="596A7B"/>
                </a:solidFill>
                <a:latin typeface="Apple SD Gothic Neo"/>
                <a:ea typeface="Apple SD Gothic Neo"/>
                <a:cs typeface="Apple SD Gothic Neo"/>
              </a:rPr>
              <a:t>github.com/likefool1714/ai-miniproject</a:t>
            </a:r>
          </a:p>
        </p:txBody>
      </p:sp>
    </p:spTree>
    <p:extLst>
      <p:ext uri="{BB962C8B-B14F-4D97-AF65-F5344CB8AC3E}">
        <p14:creationId xmlns:p14="http://schemas.microsoft.com/office/powerpoint/2010/main" val="129612748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2026-10-20T06:20:04.0510000Z</dcterms:created>
  <dcterms:modified xsi:type="dcterms:W3CDTF">2026-10-20T06:20:04.0510000Z</dcterms:modified>
</coreProperties>
</file>