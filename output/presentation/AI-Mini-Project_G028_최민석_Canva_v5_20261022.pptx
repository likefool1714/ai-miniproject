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Source Han Sans KR Bold" charset="1" panose="020B0800000000000000"/>
      <p:regular r:id="rId19"/>
    </p:embeddedFont>
    <p:embeddedFont>
      <p:font typeface="Source Han Sans KR Medium" charset="1" panose="020B0600000000000000"/>
      <p:regular r:id="rId20"/>
    </p:embeddedFont>
    <p:embeddedFont>
      <p:font typeface="Source Han Sans KR" charset="1" panose="020B04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3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2500" y="2724150"/>
            <a:ext cx="12001500" cy="262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운영 장애 대응</a:t>
            </a:r>
          </a:p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" y="6029325"/>
            <a:ext cx="11430000" cy="46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b="true" sz="2999" spc="-60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상태 변화 추적 · 근거 기반 복구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9650" y="1895475"/>
            <a:ext cx="6191250" cy="31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6BA9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MINI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650" y="9248775"/>
            <a:ext cx="4762500" cy="30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 spc="-39">
                <a:solidFill>
                  <a:srgbClr val="D3DCE8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81050"/>
            <a:ext cx="15716250" cy="93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구조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0100" y="2324100"/>
            <a:ext cx="13335000" cy="42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700" spc="-54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질문 → 도구 조회 → 답변 생성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78220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2022" y="5028914"/>
            <a:ext cx="794812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LLM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계획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748622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31745" y="4787941"/>
            <a:ext cx="1702252" cy="144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MCP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모니터링·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런북 조회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08086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59732" y="5356674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35653" y="5028914"/>
            <a:ext cx="734434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형식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검사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" y="6791325"/>
            <a:ext cx="133350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· 웹 연결은 재사용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100" y="7505700"/>
            <a:ext cx="123825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기존 검사: 길이와 번호 형식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8162925"/>
            <a:ext cx="12858750" cy="4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119" strike="noStrike" u="none">
                <a:solidFill>
                  <a:srgbClr val="D8E8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ok = len(draft) &gt;= 30 and "1)" in draft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0366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  <a:r>
              <a:rPr lang="en-US" b="true" sz="3102" spc="-62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5163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답변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 실제 답변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질문: PAYMENTS-SERVICE의 복구 여부를 진단해 주세요.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333750"/>
            <a:ext cx="4857750" cy="12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1회로</a:t>
            </a:r>
          </a:p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완료 판단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5143500"/>
            <a:ext cx="4857750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2549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CPU 55% · 메모리 60%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2549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활성 알림 0건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581775"/>
            <a:ext cx="4857750" cy="9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3149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조회하지 않은 점검도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3149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수행했다고 표현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8096250"/>
            <a:ext cx="485775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일시적 정상화와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확인하지 않은 설명을 보완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원본 D1043FF · 현재 VUE · 실제 OLLAMA · 고정 합성 관측 · 10/22 단일 실행</a:t>
            </a:r>
          </a:p>
        </p:txBody>
      </p:sp>
      <p:sp>
        <p:nvSpPr>
          <p:cNvPr name="Freeform 10" id="10" descr="최종 Vue에서 실제 원본 Ollama 진단을 5단계 중 첫 정상까지 실행. CPU55%, 메모리60%, 복구 완료·미수행 점검 수행 표현."/>
          <p:cNvSpPr/>
          <p:nvPr/>
        </p:nvSpPr>
        <p:spPr>
          <a:xfrm flipH="false" flipV="false" rot="0">
            <a:off x="666750" y="3333750"/>
            <a:ext cx="11620500" cy="5871782"/>
          </a:xfrm>
          <a:custGeom>
            <a:avLst/>
            <a:gdLst/>
            <a:ahLst/>
            <a:cxnLst/>
            <a:rect r="r" b="b" t="t" l="l"/>
            <a:pathLst>
              <a:path h="5871782" w="11620500">
                <a:moveTo>
                  <a:pt x="0" y="0"/>
                </a:moveTo>
                <a:lnTo>
                  <a:pt x="11620500" y="0"/>
                </a:lnTo>
                <a:lnTo>
                  <a:pt x="11620500" y="5871782"/>
                </a:lnTo>
                <a:lnTo>
                  <a:pt x="0" y="5871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69" t="-1839" r="-1869" b="-183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추가한 처리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333625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 관측이 있어야 상태 변화와 복구 여부를 설명할 수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5769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질문·대상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확인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7822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98359" y="4160938"/>
            <a:ext cx="825220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5644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43677" y="4160938"/>
            <a:ext cx="175224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 저장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44559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84858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변화·복구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2381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57178" y="4160938"/>
            <a:ext cx="216485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근거 검사와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설명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8359" y="6670489"/>
            <a:ext cx="1807071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재사용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72020" y="6736316"/>
            <a:ext cx="10477500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4"/>
              </a:lnSpc>
              <a:spcBef>
                <a:spcPct val="0"/>
              </a:spcBef>
            </a:pPr>
            <a:r>
              <a:rPr lang="en-US" b="true" sz="2896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백엔드 · VUE/SSE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7707051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844104" y="7739809"/>
            <a:ext cx="2232590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7DB7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직접 구현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3976" y="7805636"/>
            <a:ext cx="10953750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4"/>
              </a:lnSpc>
              <a:spcBef>
                <a:spcPct val="0"/>
              </a:spcBef>
            </a:pPr>
            <a:r>
              <a:rPr lang="en-US" b="true" sz="2896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SQLITE 이력 · 복구 정책 · 근거 검증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판정과 근거 검증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333625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52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복구는 정책으로 판단하고, 모델 제안은 근거를 검사한 뒤 채택합니다.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762092"/>
            <a:ext cx="2086110" cy="741887"/>
          </a:xfrm>
          <a:custGeom>
            <a:avLst/>
            <a:gdLst/>
            <a:ahLst/>
            <a:cxnLst/>
            <a:rect r="r" b="b" t="t" l="l"/>
            <a:pathLst>
              <a:path h="741887" w="2086110">
                <a:moveTo>
                  <a:pt x="0" y="0"/>
                </a:moveTo>
                <a:lnTo>
                  <a:pt x="2086110" y="0"/>
                </a:lnTo>
                <a:lnTo>
                  <a:pt x="2086110" y="741887"/>
                </a:lnTo>
                <a:lnTo>
                  <a:pt x="0" y="74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409" r="-486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133" y="4639573"/>
            <a:ext cx="3896086" cy="6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9"/>
              </a:lnSpc>
              <a:spcBef>
                <a:spcPct val="0"/>
              </a:spcBef>
            </a:pPr>
            <a:r>
              <a:rPr lang="en-US" sz="2699" spc="-188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normal_streak += 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598" y="3762092"/>
            <a:ext cx="1996080" cy="741887"/>
          </a:xfrm>
          <a:custGeom>
            <a:avLst/>
            <a:gdLst/>
            <a:ahLst/>
            <a:cxnLst/>
            <a:rect r="r" b="b" t="t" l="l"/>
            <a:pathLst>
              <a:path h="741887" w="1996080">
                <a:moveTo>
                  <a:pt x="0" y="0"/>
                </a:moveTo>
                <a:lnTo>
                  <a:pt x="1996080" y="0"/>
                </a:lnTo>
                <a:lnTo>
                  <a:pt x="1996080" y="741887"/>
                </a:lnTo>
                <a:lnTo>
                  <a:pt x="0" y="7418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409" r="-3151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4285339"/>
            <a:ext cx="6322048" cy="2579949"/>
          </a:xfrm>
          <a:custGeom>
            <a:avLst/>
            <a:gdLst/>
            <a:ahLst/>
            <a:cxnLst/>
            <a:rect r="r" b="b" t="t" l="l"/>
            <a:pathLst>
              <a:path h="2579949" w="6322048">
                <a:moveTo>
                  <a:pt x="0" y="0"/>
                </a:moveTo>
                <a:lnTo>
                  <a:pt x="6322048" y="0"/>
                </a:lnTo>
                <a:lnTo>
                  <a:pt x="6322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1250" y="4733925"/>
            <a:ext cx="5715000" cy="113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draft, errors = validate_draft(</a:t>
            </a:r>
          </a:p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state["draft"], bundle)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3464" y="3762092"/>
            <a:ext cx="4074786" cy="523247"/>
          </a:xfrm>
          <a:custGeom>
            <a:avLst/>
            <a:gdLst/>
            <a:ahLst/>
            <a:cxnLst/>
            <a:rect r="r" b="b" t="t" l="l"/>
            <a:pathLst>
              <a:path h="523247" w="4074786">
                <a:moveTo>
                  <a:pt x="0" y="0"/>
                </a:moveTo>
                <a:lnTo>
                  <a:pt x="4074786" y="0"/>
                </a:lnTo>
                <a:lnTo>
                  <a:pt x="4074786" y="523247"/>
                </a:lnTo>
                <a:lnTo>
                  <a:pt x="0" y="5232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3204" r="0" b="-11423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346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15875" y="4657725"/>
            <a:ext cx="5048250" cy="12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47"/>
              </a:lnSpc>
              <a:spcBef>
                <a:spcPct val="0"/>
              </a:spcBef>
            </a:pPr>
            <a:r>
              <a:rPr lang="en-US" sz="2324" spc="-162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Field(ge=0, le=100,</a:t>
            </a:r>
          </a:p>
          <a:p>
            <a:pPr algn="l" marL="0" indent="0" lvl="0">
              <a:lnSpc>
                <a:spcPts val="5347"/>
              </a:lnSpc>
              <a:spcBef>
                <a:spcPct val="0"/>
              </a:spcBef>
            </a:pPr>
            <a:r>
              <a:rPr lang="en-US" sz="2324" spc="-162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 strict=True)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300" y="7105650"/>
            <a:ext cx="5286375" cy="112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판정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2회·5초 간격, 수집 취소 시 재집계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5948" y="7096125"/>
            <a:ext cx="5476875" cy="11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 검사</a:t>
            </a:r>
          </a:p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grounding.py에서 근거·런북 대조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2050" y="7096125"/>
            <a:ext cx="5334000" cy="116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자료 형식 검사</a:t>
            </a:r>
          </a:p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true/false를 백분율로 변환하지 않음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2219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383" y="3873791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46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recovery.py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15875" y="3886200"/>
            <a:ext cx="5048250" cy="35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4"/>
              </a:lnSpc>
              <a:spcBef>
                <a:spcPct val="0"/>
              </a:spcBef>
            </a:pPr>
            <a:r>
              <a:rPr lang="en-US" sz="2319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recovery.py · 관측 스키마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기술 요소와 설계 선택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333625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52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제공된 구조를 재사용하고, 관측 이력·복구 정책·근거 검증을 확장했습니다.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762092"/>
            <a:ext cx="4762500" cy="741887"/>
          </a:xfrm>
          <a:custGeom>
            <a:avLst/>
            <a:gdLst/>
            <a:ahLst/>
            <a:cxnLst/>
            <a:rect r="r" b="b" t="t" l="l"/>
            <a:pathLst>
              <a:path h="741887" w="4762500">
                <a:moveTo>
                  <a:pt x="0" y="0"/>
                </a:moveTo>
                <a:lnTo>
                  <a:pt x="4762500" y="0"/>
                </a:lnTo>
                <a:lnTo>
                  <a:pt x="4762500" y="741887"/>
                </a:lnTo>
                <a:lnTo>
                  <a:pt x="0" y="74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4579" r="0" b="-588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133" y="4896748"/>
            <a:ext cx="5048250" cy="7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대상·재점검·이력·보고서 분기</a:t>
            </a:r>
          </a:p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관측 문맥·ID·출처 확장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598" y="3762092"/>
            <a:ext cx="5715000" cy="741887"/>
          </a:xfrm>
          <a:custGeom>
            <a:avLst/>
            <a:gdLst/>
            <a:ahLst/>
            <a:cxnLst/>
            <a:rect r="r" b="b" t="t" l="l"/>
            <a:pathLst>
              <a:path h="741887" w="5715000">
                <a:moveTo>
                  <a:pt x="0" y="0"/>
                </a:moveTo>
                <a:lnTo>
                  <a:pt x="5715000" y="0"/>
                </a:lnTo>
                <a:lnTo>
                  <a:pt x="5715000" y="741887"/>
                </a:lnTo>
                <a:lnTo>
                  <a:pt x="0" y="7418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4579" r="0" b="-588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4285339"/>
            <a:ext cx="6322048" cy="2579949"/>
          </a:xfrm>
          <a:custGeom>
            <a:avLst/>
            <a:gdLst/>
            <a:ahLst/>
            <a:cxnLst/>
            <a:rect r="r" b="b" t="t" l="l"/>
            <a:pathLst>
              <a:path h="2579949" w="6322048">
                <a:moveTo>
                  <a:pt x="0" y="0"/>
                </a:moveTo>
                <a:lnTo>
                  <a:pt x="6322048" y="0"/>
                </a:lnTo>
                <a:lnTo>
                  <a:pt x="6322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1250" y="4924425"/>
            <a:ext cx="5715000" cy="7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SQLite 관측·실패 기록</a:t>
            </a:r>
          </a:p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RecoveryStore → SupervisorDeps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3464" y="3762092"/>
            <a:ext cx="4074786" cy="523247"/>
          </a:xfrm>
          <a:custGeom>
            <a:avLst/>
            <a:gdLst/>
            <a:ahLst/>
            <a:cxnLst/>
            <a:rect r="r" b="b" t="t" l="l"/>
            <a:pathLst>
              <a:path h="523247" w="4074786">
                <a:moveTo>
                  <a:pt x="0" y="0"/>
                </a:moveTo>
                <a:lnTo>
                  <a:pt x="4074786" y="0"/>
                </a:lnTo>
                <a:lnTo>
                  <a:pt x="4074786" y="523247"/>
                </a:lnTo>
                <a:lnTo>
                  <a:pt x="0" y="5232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3204" r="0" b="-11423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346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15875" y="4876800"/>
            <a:ext cx="5048250" cy="7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 모듈 5개 · 테스트 6파일</a:t>
            </a:r>
          </a:p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단위·통합·회귀 91개 통과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300" y="7105650"/>
            <a:ext cx="5286375" cy="112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제공 런북 범위가 작아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벡터 검색보다 판정 개선 우선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5948" y="7096125"/>
            <a:ext cx="5476875" cy="11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기존 역할 분담 재사용</a:t>
            </a:r>
          </a:p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추가 협업의 호출·검증 비용 제한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2050" y="7096125"/>
            <a:ext cx="5334000" cy="116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RAG·다중 에이전트도 오답 가능</a:t>
            </a:r>
          </a:p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 대조·수치 검사를 유지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2219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저장 · 의존성 주입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383" y="3873791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LangGraph · MCP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15875" y="3886200"/>
            <a:ext cx="5048250" cy="35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4"/>
              </a:lnSpc>
              <a:spcBef>
                <a:spcPct val="0"/>
              </a:spcBef>
            </a:pPr>
            <a:r>
              <a:rPr lang="en-US" sz="2319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모듈화 · 검증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 실제 답변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41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같은 관측값에서도 정상화와 복구를 구분해 설명합니다.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5391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왜 보류했는지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6153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언제 다시 확인할지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915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근거와 함께 안내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3343275"/>
            <a:ext cx="4857750" cy="116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관측 1/2회</a:t>
            </a:r>
          </a:p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확정 보류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현재 Vue · 고정 합성 관측 · 복구 재점검은 코드 판정 · 10/22 실제 화면</a:t>
            </a:r>
          </a:p>
        </p:txBody>
      </p:sp>
      <p:sp>
        <p:nvSpPr>
          <p:cNvPr name="Freeform 10" id="10" descr="10월 22일 현재 Vue의 실제 개선 후 답변. CPU 55%, 메모리60%, 정상1/2회로 보류하는 이유와 다음 조건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3190" y="2337163"/>
            <a:ext cx="9690353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5"/>
              </a:lnSpc>
              <a:spcBef>
                <a:spcPct val="0"/>
              </a:spcBef>
            </a:pPr>
            <a:r>
              <a:rPr lang="en-US" b="true" sz="2896" spc="-57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동일한 합성 관측 5단계 × 3회 · 10/20 기록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630" y="3674034"/>
            <a:ext cx="3176886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성급한 복구 확정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04410" y="3412019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3회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487732" y="3848060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48075" y="3674034"/>
            <a:ext cx="3176886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성급한 복구 확정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10855" y="3412019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3694" y="5571476"/>
            <a:ext cx="1970441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 누락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4410" y="5309685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3회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87732" y="5783021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60139" y="5571476"/>
            <a:ext cx="1970441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 누락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10855" y="5309685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7334250"/>
            <a:ext cx="16192500" cy="37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10/22 재검증 · 아래 결과는 과거 전후 비교와 별도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9250" y="8029575"/>
            <a:ext cx="3905250" cy="83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단위·통합·회귀 검사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91개 통과 (10/22)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654842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47617" y="8038177"/>
            <a:ext cx="3818919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수정본 API 진단 4건</a:t>
            </a:r>
          </a:p>
          <a:p>
            <a:pPr algn="ctr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원격 호출 14건 HTTP 200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747196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49959" y="8038177"/>
            <a:ext cx="231038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합성 자료의 결과</a:t>
            </a:r>
          </a:p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일반 정확도와 구분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7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추가한 기능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7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 상태를 기록해야 변화와 복구 이후 재발까지 확인할 수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190875"/>
            <a:ext cx="4857750" cy="49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spc="-98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 저장·조회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4010025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이전·현재 변화 비교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4629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 관측으로 재점검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5248275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후 재발 감지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8250" y="6677025"/>
            <a:ext cx="4857750" cy="84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Markdown 보고서</a:t>
            </a:r>
          </a:p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근거·판정 내보내기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pc="-55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대화·서비스별 관측 5건 · 이력·보고서는 저장 자료 조회 · 재점검만 새 관측</a:t>
            </a:r>
          </a:p>
        </p:txBody>
      </p:sp>
      <p:sp>
        <p:nvSpPr>
          <p:cNvPr name="Freeform 11" id="11" descr="현재 Vue에서 실제 버튼을 눌러 조회한 장애-부분회복-정상1회보류-복구-재발 관측5건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한계와 다음 단계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599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합성 데이터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운영 복구는 미확인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실제 지표·서비스별 기준 연결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275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신중한 복구 판정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코드 기반 정책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30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분기 우선순위 보완 · 모든 표현은 미검증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서비스별 정책·의도 평가 확대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7048500"/>
            <a:ext cx="11430000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3032" spc="-60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LangSmith 추적 미검증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620000"/>
            <a:ext cx="14763750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관련 서비스·배포 이력 연계는 미구현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867775"/>
            <a:ext cx="1714500" cy="27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코드 저장소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7500" y="8858250"/>
            <a:ext cx="1381125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B9D8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https://github.com/likefool1714/ai-miniproject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275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2회 · 최소 5초 간격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성급한 확정 감소 ↔ 확인 지연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부록 · 백엔드 기동 확인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41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API 모드로 서버를 시작하고 상태 응답까지 확인했습니다.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5381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2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MCP 연결·API 설정 확인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6143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GET /health → HTTP 200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905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모델 호출은 별도 검증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3343275"/>
            <a:ext cx="4857750" cy="116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OpenAI 모드</a:t>
            </a:r>
          </a:p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서버 시작 완료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stdout 기동·상태 응답 줄 · 확인용 8125 포트 · 읽기 전용 로그 화면</a:t>
            </a:r>
          </a:p>
        </p:txBody>
      </p:sp>
      <p:sp>
        <p:nvSpPr>
          <p:cNvPr name="Freeform 10" id="10" descr="실제 OpenAI 모드 백엔드 stdout의 시작 완료와 health HTTP200을 읽기 전용 로그 화면에서 촬영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7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부록 · 프론트엔드 기동 확인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7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현재 Vue 화면 제공과 백엔드 상태 조회가 정상적으로 연결됩니다.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190875"/>
            <a:ext cx="4857750" cy="49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spc="-98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화면·연결 정상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4000500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GET / → HTTP 200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4619625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GET /health → 200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5238750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백엔드 연결 확인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8250" y="6677025"/>
            <a:ext cx="4857750" cy="84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Vue · SSE 프록시</a:t>
            </a:r>
          </a:p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현재 화면 사용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pc="-55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stdout 기동·HTTP 응답 줄 · 확인용 8625 포트 · 기존 앱 8600 유지</a:t>
            </a:r>
          </a:p>
        </p:txBody>
      </p:sp>
      <p:sp>
        <p:nvSpPr>
          <p:cNvPr name="Freeform 11" id="11" descr="실제 프론트엔드 프로세스 stdout의 시작 완료와 화면 및 health HTTP200을 읽기 전용 로그 화면에서 촬영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76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1"/>
              </a:lnSpc>
              <a:spcBef>
                <a:spcPct val="0"/>
              </a:spcBef>
            </a:pPr>
            <a:r>
              <a:rPr lang="en-US" b="true" sz="5100" spc="-102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부록 · 보고서 내보내기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관측·판정·정책을 파일로 남겨 조사 결과를 전달합니다.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343275"/>
            <a:ext cx="4857750" cy="9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150" spc="-63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Markdown 파일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150" spc="-63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관측·근거·정책 저장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5381625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저장 자료로 생성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143625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새 모니터링 조회 없음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6905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현재 Vue 다운로드 링크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7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pc="-3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Vue 다운로드 화면 · 보고서에는 조사 이력·현재 판정·정책과 한계 포함</a:t>
            </a:r>
          </a:p>
        </p:txBody>
      </p:sp>
      <p:sp>
        <p:nvSpPr>
          <p:cNvPr name="Freeform 10" id="10" descr="현재 Vue의 실제 보고서 다운로드 링크와 판정 정책·한계 화면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" t="0" r="-8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DAHYsV5QRuw</dc:identifier>
  <dcterms:modified xsi:type="dcterms:W3CDTF">2011-08-01T06:04:30Z</dcterms:modified>
  <cp:revision>1</cp:revision>
  <dc:title>운영 장애 대응 에이전트 · G028 최민석 · 최종 발표</dc:title>
</cp:coreProperties>
</file>