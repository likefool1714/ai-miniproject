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Source Han Sans KR Bold" charset="1" panose="020B0800000000000000"/>
      <p:regular r:id="rId15"/>
    </p:embeddedFont>
    <p:embeddedFont>
      <p:font typeface="Source Han Sans KR Medium" charset="1" panose="020B0600000000000000"/>
      <p:regular r:id="rId16"/>
    </p:embeddedFont>
    <p:embeddedFont>
      <p:font typeface="Source Han Sans KR" charset="1" panose="020B04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png" Type="http://schemas.openxmlformats.org/officeDocument/2006/relationships/image"/><Relationship Id="rId4" Target="../media/image36.png" Type="http://schemas.openxmlformats.org/officeDocument/2006/relationships/image"/><Relationship Id="rId5" Target="../media/image37.png" Type="http://schemas.openxmlformats.org/officeDocument/2006/relationships/image"/><Relationship Id="rId6" Target="../media/image3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52500" y="2724150"/>
            <a:ext cx="12001500" cy="2626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499"/>
              </a:lnSpc>
              <a:spcBef>
                <a:spcPct val="0"/>
              </a:spcBef>
            </a:pPr>
            <a:r>
              <a:rPr lang="en-US" b="true" sz="8399" spc="-168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운영 장애 대응</a:t>
            </a:r>
          </a:p>
          <a:p>
            <a:pPr algn="l" marL="0" indent="0" lvl="0">
              <a:lnSpc>
                <a:spcPts val="10499"/>
              </a:lnSpc>
              <a:spcBef>
                <a:spcPct val="0"/>
              </a:spcBef>
            </a:pPr>
            <a:r>
              <a:rPr lang="en-US" b="true" sz="8399" spc="-168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에이전트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9650" y="6029325"/>
            <a:ext cx="11430000" cy="464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9"/>
              </a:lnSpc>
              <a:spcBef>
                <a:spcPct val="0"/>
              </a:spcBef>
            </a:pPr>
            <a:r>
              <a:rPr lang="en-US" b="true" sz="2999" spc="-60" strike="noStrike" u="none">
                <a:solidFill>
                  <a:srgbClr val="C5DD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상태 변화 추적 · 근거 기반 복구 확인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09650" y="1895475"/>
            <a:ext cx="6191250" cy="317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624"/>
              </a:lnSpc>
              <a:spcBef>
                <a:spcPct val="0"/>
              </a:spcBef>
            </a:pPr>
            <a:r>
              <a:rPr lang="en-US" b="true" sz="2099" spc="-42" strike="noStrike" u="none">
                <a:solidFill>
                  <a:srgbClr val="6BA9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AI MINI PROJECT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09650" y="9248775"/>
            <a:ext cx="4762500" cy="300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b="true" sz="1950" spc="-39">
                <a:solidFill>
                  <a:srgbClr val="D3DCE8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G028 최민석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49" t="-1049" r="-1049" b="-104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781050"/>
            <a:ext cx="15716250" cy="93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500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기존 구조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00100" y="2324100"/>
            <a:ext cx="13335000" cy="420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700" spc="-54" strike="noStrike" u="none">
                <a:solidFill>
                  <a:srgbClr val="C5DD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질문 → 도구 조회 → 답변 생성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478220" y="535667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022022" y="5028914"/>
            <a:ext cx="794812" cy="96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LLM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계획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748622" y="5356674"/>
            <a:ext cx="656268" cy="437279"/>
          </a:xfrm>
          <a:custGeom>
            <a:avLst/>
            <a:gdLst/>
            <a:ahLst/>
            <a:cxnLst/>
            <a:rect r="r" b="b" t="t" l="l"/>
            <a:pathLst>
              <a:path h="437279" w="656268">
                <a:moveTo>
                  <a:pt x="0" y="0"/>
                </a:moveTo>
                <a:lnTo>
                  <a:pt x="656268" y="0"/>
                </a:lnTo>
                <a:lnTo>
                  <a:pt x="656268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31745" y="4787941"/>
            <a:ext cx="1702252" cy="1445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MCP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모니터링·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런북 조회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008086" y="5356674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59732" y="5356674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735653" y="5028914"/>
            <a:ext cx="734434" cy="963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형식</a:t>
            </a:r>
          </a:p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검사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0100" y="6791325"/>
            <a:ext cx="13335000" cy="39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  <a:spcBef>
                <a:spcPct val="0"/>
              </a:spcBef>
            </a:pPr>
            <a:r>
              <a:rPr lang="en-US" b="true" sz="2575" spc="-51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MCP · 모델 · 웹 연결은 재사용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00100" y="7505700"/>
            <a:ext cx="12382500" cy="395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18"/>
              </a:lnSpc>
              <a:spcBef>
                <a:spcPct val="0"/>
              </a:spcBef>
            </a:pPr>
            <a:r>
              <a:rPr lang="en-US" b="true" sz="2575" spc="-51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기존 검사: 길이와 번호 형식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2500" y="8162925"/>
            <a:ext cx="12858750" cy="4310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00"/>
              </a:lnSpc>
              <a:spcBef>
                <a:spcPct val="0"/>
              </a:spcBef>
            </a:pPr>
            <a:r>
              <a:rPr lang="en-US" b="true" sz="2400" spc="119" strike="noStrike" u="none">
                <a:solidFill>
                  <a:srgbClr val="D8E8FF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ok = len(draft) &gt;= 30 and "1)" in draft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0366" y="5269888"/>
            <a:ext cx="734434" cy="48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78"/>
              </a:lnSpc>
              <a:spcBef>
                <a:spcPct val="0"/>
              </a:spcBef>
            </a:pPr>
            <a:r>
              <a:rPr lang="en-US" b="true" sz="3102" spc="-62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질문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535163" y="5269888"/>
            <a:ext cx="734434" cy="4813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b="true" sz="3102" spc="-62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답변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추가한 처리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7204" y="2337163"/>
            <a:ext cx="9573352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3032" strike="noStrike" u="non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관측을 기록하고, 코드로 판정하고, 근거를 검사합니다.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15769" y="4160938"/>
            <a:ext cx="1915945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질문·대상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확인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478220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198359" y="4160938"/>
            <a:ext cx="825220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관측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조회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956440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243677" y="4160938"/>
            <a:ext cx="1752246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관측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이력 저장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445598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684858" y="4160938"/>
            <a:ext cx="1915945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변화·복구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판정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923818" y="4493047"/>
            <a:ext cx="885962" cy="437279"/>
          </a:xfrm>
          <a:custGeom>
            <a:avLst/>
            <a:gdLst/>
            <a:ahLst/>
            <a:cxnLst/>
            <a:rect r="r" b="b" t="t" l="l"/>
            <a:pathLst>
              <a:path h="437279" w="885962">
                <a:moveTo>
                  <a:pt x="0" y="0"/>
                </a:moveTo>
                <a:lnTo>
                  <a:pt x="885962" y="0"/>
                </a:lnTo>
                <a:lnTo>
                  <a:pt x="88596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057178" y="4160938"/>
            <a:ext cx="2164856" cy="109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근거 검사와</a:t>
            </a:r>
          </a:p>
          <a:p>
            <a:pPr algn="ctr">
              <a:lnSpc>
                <a:spcPts val="4472"/>
              </a:lnSpc>
            </a:pPr>
            <a:r>
              <a:rPr lang="en-US" b="true" sz="3440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설명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848359" y="6670489"/>
            <a:ext cx="1807071" cy="54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8"/>
              </a:lnSpc>
              <a:spcBef>
                <a:spcPct val="0"/>
              </a:spcBef>
            </a:pPr>
            <a:r>
              <a:rPr lang="en-US" b="true" sz="3537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재사용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672020" y="6736316"/>
            <a:ext cx="3405070" cy="45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b="tru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MCP · 모델 · 웹 연결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5330" y="7707051"/>
            <a:ext cx="1968804" cy="437279"/>
          </a:xfrm>
          <a:custGeom>
            <a:avLst/>
            <a:gdLst/>
            <a:ahLst/>
            <a:cxnLst/>
            <a:rect r="r" b="b" t="t" l="l"/>
            <a:pathLst>
              <a:path h="437279" w="1968804">
                <a:moveTo>
                  <a:pt x="0" y="0"/>
                </a:moveTo>
                <a:lnTo>
                  <a:pt x="1968804" y="0"/>
                </a:lnTo>
                <a:lnTo>
                  <a:pt x="196880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844104" y="7739809"/>
            <a:ext cx="2232590" cy="545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98"/>
              </a:lnSpc>
              <a:spcBef>
                <a:spcPct val="0"/>
              </a:spcBef>
            </a:pPr>
            <a:r>
              <a:rPr lang="en-US" b="true" sz="3537" strike="noStrike" u="none">
                <a:solidFill>
                  <a:srgbClr val="7DB7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직접 구현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653976" y="7805636"/>
            <a:ext cx="5209425" cy="45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64"/>
              </a:lnSpc>
              <a:spcBef>
                <a:spcPct val="0"/>
              </a:spcBef>
            </a:pPr>
            <a:r>
              <a:rPr lang="en-US" b="true" sz="2896" strike="noStrike" u="non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관측 이력 · 복구 판정 · 근거 검증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발견한 문제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44571" y="2020885"/>
            <a:ext cx="7157768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5"/>
              </a:lnSpc>
              <a:spcBef>
                <a:spcPct val="0"/>
              </a:spcBef>
            </a:pPr>
            <a:r>
              <a:rPr lang="en-US" sz="2896" strike="noStrike" u="none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복구 판단 · 대화 대상 · 답변 근거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58375" y="3255874"/>
            <a:ext cx="1502310" cy="148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32"/>
              </a:lnSpc>
            </a:pPr>
            <a:r>
              <a:rPr lang="en-US" sz="9775" b="true">
                <a:solidFill>
                  <a:srgbClr val="73AE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191000" y="3506373"/>
            <a:ext cx="13239750" cy="508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  <a:r>
              <a:rPr lang="en-US" b="true" sz="3449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정상 1회로 복구 확정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530919" y="4249890"/>
            <a:ext cx="7679985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sz="2575" strike="noStrike" u="none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연속된 정상 관측을 확인할 필요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4919394"/>
            <a:ext cx="16778584" cy="229572"/>
          </a:xfrm>
          <a:custGeom>
            <a:avLst/>
            <a:gdLst/>
            <a:ahLst/>
            <a:cxnLst/>
            <a:rect r="r" b="b" t="t" l="l"/>
            <a:pathLst>
              <a:path h="229572" w="16778584">
                <a:moveTo>
                  <a:pt x="0" y="0"/>
                </a:moveTo>
                <a:lnTo>
                  <a:pt x="16778584" y="0"/>
                </a:lnTo>
                <a:lnTo>
                  <a:pt x="16778584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58375" y="5304148"/>
            <a:ext cx="1502310" cy="148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32"/>
              </a:lnSpc>
            </a:pPr>
            <a:r>
              <a:rPr lang="en-US" sz="9775" b="true">
                <a:solidFill>
                  <a:srgbClr val="73AE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91000" y="5524525"/>
            <a:ext cx="13239750" cy="508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  <a:r>
              <a:rPr lang="en-US" b="true" sz="3449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후속 질문에서 대상 혼동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34737" y="6268043"/>
            <a:ext cx="7298174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sz="2575" strike="noStrike" u="none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“그 서비스”를 이전 조사와 연결할 필요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330" y="6854356"/>
            <a:ext cx="16778584" cy="218640"/>
          </a:xfrm>
          <a:custGeom>
            <a:avLst/>
            <a:gdLst/>
            <a:ahLst/>
            <a:cxnLst/>
            <a:rect r="r" b="b" t="t" l="l"/>
            <a:pathLst>
              <a:path h="218640" w="16778584">
                <a:moveTo>
                  <a:pt x="0" y="0"/>
                </a:moveTo>
                <a:lnTo>
                  <a:pt x="16778584" y="0"/>
                </a:lnTo>
                <a:lnTo>
                  <a:pt x="16778584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58375" y="7292179"/>
            <a:ext cx="1502310" cy="1481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32"/>
              </a:lnSpc>
            </a:pPr>
            <a:r>
              <a:rPr lang="en-US" sz="9775" b="true">
                <a:solidFill>
                  <a:srgbClr val="73AE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91000" y="7512556"/>
            <a:ext cx="13239750" cy="5080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0"/>
              </a:lnSpc>
              <a:spcBef>
                <a:spcPct val="0"/>
              </a:spcBef>
            </a:pPr>
            <a:r>
              <a:rPr lang="en-US" b="true" sz="3449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조회하지 않은 로그를 분석했다고 답변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31664" y="8286195"/>
            <a:ext cx="7605493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sz="2575" strike="noStrike" u="none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조회 근거와 답변을 대조할 필요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정상 1회와 복구의 차이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6908" y="2222212"/>
            <a:ext cx="10245129" cy="473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3"/>
              </a:lnSpc>
              <a:spcBef>
                <a:spcPct val="0"/>
              </a:spcBef>
            </a:pPr>
            <a:r>
              <a:rPr lang="en-US" sz="3102" strike="noStrike" u="none">
                <a:solidFill>
                  <a:srgbClr val="F4F4F4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개선 전 실제 답변 발췌 · 합성 관측으로 재현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3640352"/>
            <a:ext cx="8509608" cy="5148966"/>
          </a:xfrm>
          <a:custGeom>
            <a:avLst/>
            <a:gdLst/>
            <a:ahLst/>
            <a:cxnLst/>
            <a:rect r="r" b="b" t="t" l="l"/>
            <a:pathLst>
              <a:path h="5148966" w="8509608">
                <a:moveTo>
                  <a:pt x="0" y="0"/>
                </a:moveTo>
                <a:lnTo>
                  <a:pt x="8509608" y="0"/>
                </a:lnTo>
                <a:lnTo>
                  <a:pt x="8509608" y="5148966"/>
                </a:lnTo>
                <a:lnTo>
                  <a:pt x="0" y="51489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4086" y="3848060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01598" y="3848060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739110" y="3848060"/>
            <a:ext cx="448450" cy="448211"/>
          </a:xfrm>
          <a:custGeom>
            <a:avLst/>
            <a:gdLst/>
            <a:ahLst/>
            <a:cxnLst/>
            <a:rect r="r" b="b" t="t" l="l"/>
            <a:pathLst>
              <a:path h="448211" w="448450">
                <a:moveTo>
                  <a:pt x="0" y="0"/>
                </a:moveTo>
                <a:lnTo>
                  <a:pt x="448450" y="0"/>
                </a:lnTo>
                <a:lnTo>
                  <a:pt x="44845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60476" y="5243905"/>
            <a:ext cx="2723518" cy="39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5"/>
              </a:lnSpc>
              <a:spcBef>
                <a:spcPct val="0"/>
              </a:spcBef>
            </a:pPr>
            <a:r>
              <a:rPr lang="en-US" sz="2654" strike="noStrike" u="none">
                <a:solidFill>
                  <a:srgbClr val="F4F4F4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CPU 55%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4191" y="5861400"/>
            <a:ext cx="3352023" cy="39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5"/>
              </a:lnSpc>
              <a:spcBef>
                <a:spcPct val="0"/>
              </a:spcBef>
            </a:pPr>
            <a:r>
              <a:rPr lang="en-US" sz="2654" strike="noStrike" u="none">
                <a:solidFill>
                  <a:srgbClr val="F4F4F4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메모리 60%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47906" y="6478894"/>
            <a:ext cx="3980527" cy="39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5"/>
              </a:lnSpc>
              <a:spcBef>
                <a:spcPct val="0"/>
              </a:spcBef>
            </a:pPr>
            <a:r>
              <a:rPr lang="en-US" sz="2654" strike="noStrike" u="none">
                <a:solidFill>
                  <a:srgbClr val="F4F4F4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활성 알림 0건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301598" y="6854356"/>
            <a:ext cx="6978316" cy="863627"/>
          </a:xfrm>
          <a:custGeom>
            <a:avLst/>
            <a:gdLst/>
            <a:ahLst/>
            <a:cxnLst/>
            <a:rect r="r" b="b" t="t" l="l"/>
            <a:pathLst>
              <a:path h="863627" w="6978316">
                <a:moveTo>
                  <a:pt x="0" y="0"/>
                </a:moveTo>
                <a:lnTo>
                  <a:pt x="6978316" y="0"/>
                </a:lnTo>
                <a:lnTo>
                  <a:pt x="697831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72267" y="7081328"/>
            <a:ext cx="6186576" cy="39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85"/>
              </a:lnSpc>
              <a:spcBef>
                <a:spcPct val="0"/>
              </a:spcBef>
            </a:pPr>
            <a:r>
              <a:rPr lang="en-US" b="true" sz="2654" strike="noStrike" u="none">
                <a:solidFill>
                  <a:srgbClr val="3871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답변: “현재 상태 기준 복구 완료”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57223" y="3647456"/>
            <a:ext cx="4762500" cy="30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099" strike="noStrike" u="none">
                <a:solidFill>
                  <a:srgbClr val="B9D8FF">
                    <a:alpha val="69804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개선 전 답변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20250" y="4191000"/>
            <a:ext cx="7810500" cy="1249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b="true" sz="4124" strike="noStrike" u="none">
                <a:solidFill>
                  <a:srgbClr val="F3BD9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“현재 상태 기준</a:t>
            </a:r>
          </a:p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b="true" sz="4124" strike="noStrike" u="none">
                <a:solidFill>
                  <a:srgbClr val="F3BD92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복구 완료”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570574" y="5564382"/>
            <a:ext cx="8072096" cy="229572"/>
          </a:xfrm>
          <a:custGeom>
            <a:avLst/>
            <a:gdLst/>
            <a:ahLst/>
            <a:cxnLst/>
            <a:rect r="r" b="b" t="t" l="l"/>
            <a:pathLst>
              <a:path h="229572" w="8072096">
                <a:moveTo>
                  <a:pt x="0" y="0"/>
                </a:moveTo>
                <a:lnTo>
                  <a:pt x="8072096" y="0"/>
                </a:lnTo>
                <a:lnTo>
                  <a:pt x="807209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9661214" y="6027069"/>
            <a:ext cx="4762500" cy="30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2099" strike="noStrike" u="none">
                <a:solidFill>
                  <a:srgbClr val="B9D8FF">
                    <a:alpha val="69804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놓친 조건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626312" y="6619977"/>
            <a:ext cx="4453938" cy="598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28"/>
              </a:lnSpc>
              <a:spcBef>
                <a:spcPct val="0"/>
              </a:spcBef>
            </a:pPr>
            <a:r>
              <a:rPr lang="en-US" b="true" sz="3939" strike="noStrike" u="none">
                <a:solidFill>
                  <a:srgbClr val="F4F4F4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정상 관측은 1회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22862" y="7638579"/>
            <a:ext cx="8001000" cy="35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4F4F4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수치의 정상화 ≠ 안정적인 복구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17263" y="8301256"/>
            <a:ext cx="8001000" cy="356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trike="noStrike" u="none">
                <a:solidFill>
                  <a:srgbClr val="F4F4F4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개선 후: 첫 정상은 ‘부분 회복’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판정과 근거 검증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32219" y="2352224"/>
            <a:ext cx="13035093" cy="41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12"/>
              </a:lnSpc>
              <a:spcBef>
                <a:spcPct val="0"/>
              </a:spcBef>
            </a:pPr>
            <a:r>
              <a:rPr lang="en-US" sz="2759" spc="-55" strike="noStrike" u="none">
                <a:solidFill>
                  <a:srgbClr val="F6F6F6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코드가 판정하고, 모델의 설명은 실제 근거와 대조합니다.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3640352"/>
            <a:ext cx="2187560" cy="863627"/>
          </a:xfrm>
          <a:custGeom>
            <a:avLst/>
            <a:gdLst/>
            <a:ahLst/>
            <a:cxnLst/>
            <a:rect r="r" b="b" t="t" l="l"/>
            <a:pathLst>
              <a:path h="863627" w="2187560">
                <a:moveTo>
                  <a:pt x="0" y="0"/>
                </a:moveTo>
                <a:lnTo>
                  <a:pt x="2187560" y="0"/>
                </a:lnTo>
                <a:lnTo>
                  <a:pt x="218756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6574" y="4285339"/>
            <a:ext cx="5457962" cy="2579949"/>
          </a:xfrm>
          <a:custGeom>
            <a:avLst/>
            <a:gdLst/>
            <a:ahLst/>
            <a:cxnLst/>
            <a:rect r="r" b="b" t="t" l="l"/>
            <a:pathLst>
              <a:path h="2579949" w="5457962">
                <a:moveTo>
                  <a:pt x="0" y="0"/>
                </a:moveTo>
                <a:lnTo>
                  <a:pt x="5457962" y="0"/>
                </a:lnTo>
                <a:lnTo>
                  <a:pt x="545796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11133" y="4639573"/>
            <a:ext cx="3896086" cy="69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9"/>
              </a:lnSpc>
              <a:spcBef>
                <a:spcPct val="0"/>
              </a:spcBef>
            </a:pPr>
            <a:r>
              <a:rPr lang="en-US" sz="2699" spc="-188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normal_streak += 1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873598" y="3640352"/>
            <a:ext cx="2625072" cy="863627"/>
          </a:xfrm>
          <a:custGeom>
            <a:avLst/>
            <a:gdLst/>
            <a:ahLst/>
            <a:cxnLst/>
            <a:rect r="r" b="b" t="t" l="l"/>
            <a:pathLst>
              <a:path h="863627" w="2625072">
                <a:moveTo>
                  <a:pt x="0" y="0"/>
                </a:moveTo>
                <a:lnTo>
                  <a:pt x="2625072" y="0"/>
                </a:lnTo>
                <a:lnTo>
                  <a:pt x="262507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873598" y="4285339"/>
            <a:ext cx="6322048" cy="2579949"/>
          </a:xfrm>
          <a:custGeom>
            <a:avLst/>
            <a:gdLst/>
            <a:ahLst/>
            <a:cxnLst/>
            <a:rect r="r" b="b" t="t" l="l"/>
            <a:pathLst>
              <a:path h="2579949" w="6322048">
                <a:moveTo>
                  <a:pt x="0" y="0"/>
                </a:moveTo>
                <a:lnTo>
                  <a:pt x="6322048" y="0"/>
                </a:lnTo>
                <a:lnTo>
                  <a:pt x="6322048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191250" y="4733925"/>
            <a:ext cx="5715000" cy="11397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9"/>
              </a:lnSpc>
              <a:spcBef>
                <a:spcPct val="0"/>
              </a:spcBef>
            </a:pPr>
            <a:r>
              <a:rPr lang="en-US" sz="2099" spc="-1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draft, errors = validate_draft(</a:t>
            </a:r>
          </a:p>
          <a:p>
            <a:pPr algn="l" marL="0" indent="0" lvl="0">
              <a:lnSpc>
                <a:spcPts val="4829"/>
              </a:lnSpc>
              <a:spcBef>
                <a:spcPct val="0"/>
              </a:spcBef>
            </a:pPr>
            <a:r>
              <a:rPr lang="en-US" sz="2099" spc="-146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   state["draft"], bundle)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403464" y="3640352"/>
            <a:ext cx="2187560" cy="863627"/>
          </a:xfrm>
          <a:custGeom>
            <a:avLst/>
            <a:gdLst/>
            <a:ahLst/>
            <a:cxnLst/>
            <a:rect r="r" b="b" t="t" l="l"/>
            <a:pathLst>
              <a:path h="863627" w="2187560">
                <a:moveTo>
                  <a:pt x="0" y="0"/>
                </a:moveTo>
                <a:lnTo>
                  <a:pt x="2187560" y="0"/>
                </a:lnTo>
                <a:lnTo>
                  <a:pt x="218756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403464" y="4285339"/>
            <a:ext cx="5457962" cy="2579949"/>
          </a:xfrm>
          <a:custGeom>
            <a:avLst/>
            <a:gdLst/>
            <a:ahLst/>
            <a:cxnLst/>
            <a:rect r="r" b="b" t="t" l="l"/>
            <a:pathLst>
              <a:path h="2579949" w="5457962">
                <a:moveTo>
                  <a:pt x="0" y="0"/>
                </a:moveTo>
                <a:lnTo>
                  <a:pt x="5457962" y="0"/>
                </a:lnTo>
                <a:lnTo>
                  <a:pt x="5457962" y="2579949"/>
                </a:lnTo>
                <a:lnTo>
                  <a:pt x="0" y="25799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762560" y="4639573"/>
            <a:ext cx="4261221" cy="694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9"/>
              </a:lnSpc>
              <a:spcBef>
                <a:spcPct val="0"/>
              </a:spcBef>
            </a:pPr>
            <a:r>
              <a:rPr lang="en-US" sz="2700" spc="-188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attempts &lt; 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4014" y="7096125"/>
            <a:ext cx="5476875" cy="118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9"/>
              </a:lnSpc>
              <a:spcBef>
                <a:spcPct val="0"/>
              </a:spcBef>
            </a:pPr>
            <a:r>
              <a:rPr lang="en-US" b="true" sz="2474" spc="-49" strike="noStrike" u="none">
                <a:solidFill>
                  <a:srgbClr val="A8C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복구 판정</a:t>
            </a:r>
          </a:p>
          <a:p>
            <a:pPr algn="l" marL="0" indent="0" lvl="0">
              <a:lnSpc>
                <a:spcPts val="4949"/>
              </a:lnSpc>
              <a:spcBef>
                <a:spcPct val="0"/>
              </a:spcBef>
            </a:pPr>
            <a:r>
              <a:rPr lang="en-US" b="true" sz="2474" spc="-49" strike="noStrike" u="none">
                <a:solidFill>
                  <a:srgbClr val="A8C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유효한 정상 2회 + 최소 5초 간격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05948" y="7096125"/>
            <a:ext cx="5476875" cy="118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sz="2475" spc="-49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근거 검사</a:t>
            </a:r>
          </a:p>
          <a:p>
            <a:pPr algn="l" marL="0" indent="0" lvl="0">
              <a:lnSpc>
                <a:spcPts val="4950"/>
              </a:lnSpc>
              <a:spcBef>
                <a:spcPct val="0"/>
              </a:spcBef>
            </a:pPr>
            <a:r>
              <a:rPr lang="en-US" sz="2475" spc="-49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grounding.py에서 근거·런북 대조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92050" y="7096125"/>
            <a:ext cx="5476875" cy="1188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49"/>
              </a:lnSpc>
              <a:spcBef>
                <a:spcPct val="0"/>
              </a:spcBef>
            </a:pPr>
            <a:r>
              <a:rPr lang="en-US" sz="2474" spc="-49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재작성 제한</a:t>
            </a:r>
          </a:p>
          <a:p>
            <a:pPr algn="l" marL="0" indent="0" lvl="0">
              <a:lnSpc>
                <a:spcPts val="4949"/>
              </a:lnSpc>
              <a:spcBef>
                <a:spcPct val="0"/>
              </a:spcBef>
            </a:pPr>
            <a:r>
              <a:rPr lang="en-US" sz="2474" spc="-49" strike="noStrike" u="none">
                <a:solidFill>
                  <a:srgbClr val="FFFFFF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최대 1회, 재실패 시 판단 보류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322219" y="3892085"/>
            <a:ext cx="5036344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6"/>
              </a:lnSpc>
              <a:spcBef>
                <a:spcPct val="0"/>
              </a:spcBef>
            </a:pPr>
            <a:r>
              <a:rPr lang="en-US" b="true" sz="232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graph.py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50094" y="3892085"/>
            <a:ext cx="5036344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spc="-46" b="tru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recovery.py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51594" y="3892085"/>
            <a:ext cx="5036344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86"/>
              </a:lnSpc>
              <a:spcBef>
                <a:spcPct val="0"/>
              </a:spcBef>
            </a:pPr>
            <a:r>
              <a:rPr lang="en-US" b="true" sz="232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graph.py · 재작성 조건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3190" y="2337163"/>
            <a:ext cx="9690353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5"/>
              </a:lnSpc>
              <a:spcBef>
                <a:spcPct val="0"/>
              </a:spcBef>
            </a:pPr>
            <a:r>
              <a:rPr lang="en-US" b="true" sz="2896" spc="-57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동일한 합성 관측 5단계 × 3회 · 10/20 비교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41630" y="3674034"/>
            <a:ext cx="3176886" cy="125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조기 복구 오류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(적을수록 좋음)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04410" y="3412019"/>
            <a:ext cx="176053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0"/>
              </a:lnSpc>
            </a:pPr>
            <a:r>
              <a:rPr lang="en-US" b="true" sz="9015" spc="-180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3/3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487732" y="3848060"/>
            <a:ext cx="875024" cy="655919"/>
          </a:xfrm>
          <a:custGeom>
            <a:avLst/>
            <a:gdLst/>
            <a:ahLst/>
            <a:cxnLst/>
            <a:rect r="r" b="b" t="t" l="l"/>
            <a:pathLst>
              <a:path h="655919" w="875024">
                <a:moveTo>
                  <a:pt x="0" y="0"/>
                </a:moveTo>
                <a:lnTo>
                  <a:pt x="875024" y="0"/>
                </a:lnTo>
                <a:lnTo>
                  <a:pt x="87502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48075" y="3674034"/>
            <a:ext cx="3176886" cy="125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조기 복구 오류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(적을수록 좋음)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10855" y="3412019"/>
            <a:ext cx="176053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0"/>
              </a:lnSpc>
            </a:pPr>
            <a:r>
              <a:rPr lang="en-US" b="true" sz="9015" spc="-180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0/3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3694" y="5571476"/>
            <a:ext cx="1970441" cy="125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재발 안내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(많을수록 좋음)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804410" y="5309685"/>
            <a:ext cx="176053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0"/>
              </a:lnSpc>
            </a:pPr>
            <a:r>
              <a:rPr lang="en-US" b="true" sz="9015" spc="-180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0/3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8487732" y="5783021"/>
            <a:ext cx="875024" cy="437279"/>
          </a:xfrm>
          <a:custGeom>
            <a:avLst/>
            <a:gdLst/>
            <a:ahLst/>
            <a:cxnLst/>
            <a:rect r="r" b="b" t="t" l="l"/>
            <a:pathLst>
              <a:path h="437279" w="875024">
                <a:moveTo>
                  <a:pt x="0" y="0"/>
                </a:moveTo>
                <a:lnTo>
                  <a:pt x="875024" y="0"/>
                </a:lnTo>
                <a:lnTo>
                  <a:pt x="87502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160139" y="5571476"/>
            <a:ext cx="1970441" cy="125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개선 후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재발 안내</a:t>
            </a:r>
          </a:p>
          <a:p>
            <a:pPr algn="l" marL="0" indent="0" lvl="0">
              <a:lnSpc>
                <a:spcPts val="3375"/>
              </a:lnSpc>
              <a:spcBef>
                <a:spcPct val="0"/>
              </a:spcBef>
            </a:pPr>
            <a:r>
              <a:rPr lang="en-US" b="true" sz="2250" spc="-45" strike="noStrike" u="none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(많을수록 좋음)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510855" y="5309685"/>
            <a:ext cx="1760530" cy="1365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20"/>
              </a:lnSpc>
            </a:pPr>
            <a:r>
              <a:rPr lang="en-US" b="true" sz="9015" spc="-180">
                <a:solidFill>
                  <a:srgbClr val="F6F6F6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3/3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458" y="7322302"/>
            <a:ext cx="11042485" cy="374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90"/>
              </a:lnSpc>
              <a:spcBef>
                <a:spcPct val="0"/>
              </a:spcBef>
            </a:pPr>
            <a:r>
              <a:rPr lang="en-US" b="true" sz="2575" spc="-51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10/21 최신 검증은 별도 진행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79580" y="8038177"/>
            <a:ext cx="2099375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b="true" sz="2311" spc="-46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최신 로컬 웹 복구</a:t>
            </a:r>
          </a:p>
          <a:p>
            <a:pPr algn="ctr">
              <a:lnSpc>
                <a:spcPts val="3467"/>
              </a:lnSpc>
            </a:pPr>
            <a:r>
              <a:rPr lang="en-US" b="true" sz="2311" spc="-46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15/15단계 일치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654842" y="7925691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6847617" y="8038177"/>
            <a:ext cx="3818919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7"/>
              </a:lnSpc>
            </a:pPr>
            <a:r>
              <a:rPr lang="en-US" b="true" sz="2311" spc="-46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실제 제공 API 진단</a:t>
            </a:r>
          </a:p>
          <a:p>
            <a:pPr algn="ctr">
              <a:lnSpc>
                <a:spcPts val="3467"/>
              </a:lnSpc>
            </a:pPr>
            <a:r>
              <a:rPr lang="en-US" b="true" sz="2311" spc="-46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POST 3건 · SSE 1건 검증 통과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747196" y="7925691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049959" y="8038177"/>
            <a:ext cx="2310384" cy="83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67"/>
              </a:lnSpc>
              <a:spcBef>
                <a:spcPct val="0"/>
              </a:spcBef>
            </a:pPr>
            <a:r>
              <a:rPr lang="en-US" b="true" sz="231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고정 시나리오 결과</a:t>
            </a:r>
          </a:p>
          <a:p>
            <a:pPr algn="l" marL="0" indent="0" lvl="0">
              <a:lnSpc>
                <a:spcPts val="3467"/>
              </a:lnSpc>
              <a:spcBef>
                <a:spcPct val="0"/>
              </a:spcBef>
            </a:pPr>
            <a:r>
              <a:rPr lang="en-US" b="true" sz="2311" spc="-46" strike="noStrike" u="none">
                <a:solidFill>
                  <a:srgbClr val="F6F6F6"/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일반 정확도와 구분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78" strike="noStrike" u="none">
                <a:solidFill>
                  <a:srgbClr val="FFFF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조사 기록의 연결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2276" y="2141372"/>
            <a:ext cx="9066109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75"/>
              </a:lnSpc>
              <a:spcBef>
                <a:spcPct val="0"/>
              </a:spcBef>
            </a:pPr>
            <a:r>
              <a:rPr lang="en-US" sz="2896" spc="-86" strike="noStrike" u="none">
                <a:solidFill>
                  <a:srgbClr val="F8F8F8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한 번의 답변에서, 이어지는 조사로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38320" y="3542031"/>
            <a:ext cx="645296" cy="66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spc="-132" b="true">
                <a:solidFill>
                  <a:srgbClr val="7DB7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0515" y="4415559"/>
            <a:ext cx="1425864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 b="true">
                <a:solidFill>
                  <a:srgbClr val="F8F8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새로 진단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44773" y="5051261"/>
            <a:ext cx="2866430" cy="43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0"/>
              </a:lnSpc>
              <a:spcBef>
                <a:spcPct val="0"/>
              </a:spcBef>
            </a:pPr>
            <a:r>
              <a:rPr lang="en-US" sz="2188" spc="-108" strike="noStrike" u="none">
                <a:solidFill>
                  <a:srgbClr val="F8F8F8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새 관측 저장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478220" y="4493047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520899" y="3542031"/>
            <a:ext cx="645296" cy="66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spc="-132" b="true">
                <a:solidFill>
                  <a:srgbClr val="7DB7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02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509715" y="4415559"/>
            <a:ext cx="1763624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 b="true">
                <a:solidFill>
                  <a:srgbClr val="F8F8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복구 재점검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527352" y="5051261"/>
            <a:ext cx="2866430" cy="43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0"/>
              </a:lnSpc>
              <a:spcBef>
                <a:spcPct val="0"/>
              </a:spcBef>
            </a:pPr>
            <a:r>
              <a:rPr lang="en-US" sz="2188" spc="-108" strike="noStrike" u="none">
                <a:solidFill>
                  <a:srgbClr val="F8F8F8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새 데이터 조회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956440" y="4493047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923110" y="3542031"/>
            <a:ext cx="645296" cy="66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spc="-132" b="true">
                <a:solidFill>
                  <a:srgbClr val="7DB7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906416" y="4415559"/>
            <a:ext cx="2314695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 b="true">
                <a:solidFill>
                  <a:srgbClr val="F8F8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이력·변화 확인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929562" y="5051261"/>
            <a:ext cx="2866430" cy="43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0"/>
              </a:lnSpc>
              <a:spcBef>
                <a:spcPct val="0"/>
              </a:spcBef>
            </a:pPr>
            <a:r>
              <a:rPr lang="en-US" sz="2188" spc="-108" strike="noStrike" u="none">
                <a:solidFill>
                  <a:srgbClr val="F8F8F8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수치·알림 비교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445598" y="4493047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378899" y="3542031"/>
            <a:ext cx="645296" cy="66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spc="-132" b="true">
                <a:solidFill>
                  <a:srgbClr val="7DB7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04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371093" y="4415559"/>
            <a:ext cx="1425864" cy="428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5"/>
              </a:lnSpc>
            </a:pPr>
            <a:r>
              <a:rPr lang="en-US" sz="2896" spc="-86" b="true">
                <a:solidFill>
                  <a:srgbClr val="F8F8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재발 안내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85352" y="5051261"/>
            <a:ext cx="2866430" cy="43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0"/>
              </a:lnSpc>
              <a:spcBef>
                <a:spcPct val="0"/>
              </a:spcBef>
            </a:pPr>
            <a:r>
              <a:rPr lang="en-US" sz="2188" spc="-108" strike="noStrike" u="none">
                <a:solidFill>
                  <a:srgbClr val="F8F8F8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복구 후 이상 감지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3923818" y="4493047"/>
            <a:ext cx="667206" cy="437279"/>
          </a:xfrm>
          <a:custGeom>
            <a:avLst/>
            <a:gdLst/>
            <a:ahLst/>
            <a:cxnLst/>
            <a:rect r="r" b="b" t="t" l="l"/>
            <a:pathLst>
              <a:path h="437279" w="667206">
                <a:moveTo>
                  <a:pt x="0" y="0"/>
                </a:moveTo>
                <a:lnTo>
                  <a:pt x="667206" y="0"/>
                </a:lnTo>
                <a:lnTo>
                  <a:pt x="66720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781110" y="3542031"/>
            <a:ext cx="645296" cy="660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7"/>
              </a:lnSpc>
            </a:pPr>
            <a:r>
              <a:rPr lang="en-US" sz="4447" spc="-132" b="true">
                <a:solidFill>
                  <a:srgbClr val="7DB7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760015" y="4445681"/>
            <a:ext cx="2754773" cy="392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5"/>
              </a:lnSpc>
            </a:pPr>
            <a:r>
              <a:rPr lang="en-US" sz="2654" spc="-79" b="true">
                <a:solidFill>
                  <a:srgbClr val="F8F8F8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Markdown 보고서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787562" y="5172165"/>
            <a:ext cx="2866430" cy="333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29"/>
              </a:lnSpc>
              <a:spcBef>
                <a:spcPct val="0"/>
              </a:spcBef>
            </a:pPr>
            <a:r>
              <a:rPr lang="en-US" sz="1723" spc="-85" strike="noStrike" u="none">
                <a:solidFill>
                  <a:srgbClr val="F8F8F8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조사 결과 내보내기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43000" y="7419975"/>
            <a:ext cx="15716250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pc="-107" strike="noStrike" u="none">
                <a:solidFill>
                  <a:srgbClr val="B9D8FF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“그 서비스 다시 확인해줘” → 이전 대상 재점검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2000" y="809625"/>
            <a:ext cx="15716250" cy="910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1"/>
              </a:lnSpc>
              <a:spcBef>
                <a:spcPct val="0"/>
              </a:spcBef>
            </a:pPr>
            <a:r>
              <a:rPr lang="en-US" b="true" sz="6000" spc="-120" strike="noStrike" u="none">
                <a:solidFill>
                  <a:srgbClr val="FFFF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한계와 다음 단계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2500" y="3133725"/>
            <a:ext cx="5143500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599" spc="-72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합성 데이터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2500" y="4429125"/>
            <a:ext cx="4953000" cy="7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실제 운영 복구는 미확인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다음: 실제 지표·서비스별 기준 연결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62750" y="3133725"/>
            <a:ext cx="5143500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pc="-72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신중한 복구 판정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573000" y="3133725"/>
            <a:ext cx="5143500" cy="544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320"/>
              </a:lnSpc>
              <a:spcBef>
                <a:spcPct val="0"/>
              </a:spcBef>
            </a:pPr>
            <a:r>
              <a:rPr lang="en-US" b="true" sz="3600" spc="-72" strike="noStrike" u="none">
                <a:solidFill>
                  <a:srgbClr val="C5DDFF">
                    <a:alpha val="94902"/>
                  </a:srgbClr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코드 기반 정책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573000" y="4429125"/>
            <a:ext cx="4953000" cy="7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일관된 판정 ↔ 제한된 진단 범위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다음: 서비스별 정책 세분화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2500" y="7048500"/>
            <a:ext cx="11430000" cy="44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3032" spc="-60" strike="noStrike" u="non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LangSmith 추적 미검증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2500" y="7620000"/>
            <a:ext cx="14763750" cy="339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74"/>
              </a:lnSpc>
              <a:spcBef>
                <a:spcPct val="0"/>
              </a:spcBef>
            </a:pPr>
            <a:r>
              <a:rPr lang="en-US" sz="2311" spc="-46" strike="noStrike" u="none">
                <a:solidFill>
                  <a:srgbClr val="FFFFFF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관련 서비스·배포 이력 연계는 미구현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500" y="8867775"/>
            <a:ext cx="1714500" cy="276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83"/>
              </a:lnSpc>
            </a:pPr>
            <a:r>
              <a:rPr lang="en-US" sz="1986" spc="-39" b="true">
                <a:solidFill>
                  <a:srgbClr val="FFFF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코드 저장소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57500" y="8858250"/>
            <a:ext cx="13811250" cy="303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2099" spc="-42" strike="noStrike" u="none">
                <a:solidFill>
                  <a:srgbClr val="B9D8FF">
                    <a:alpha val="94902"/>
                  </a:srgbClr>
                </a:solidFill>
                <a:latin typeface="Source Han Sans KR Medium"/>
                <a:ea typeface="Source Han Sans KR Medium"/>
                <a:cs typeface="Source Han Sans KR Medium"/>
                <a:sym typeface="Source Han Sans KR Medium"/>
              </a:rPr>
              <a:t>https://github.com/likefool1714/ai-miniproject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762750" y="4429125"/>
            <a:ext cx="4953000" cy="7139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정상 2회 · 최소 5초 간격</a:t>
            </a:r>
          </a:p>
          <a:p>
            <a:pPr algn="l" marL="0" indent="0" lvl="0">
              <a:lnSpc>
                <a:spcPts val="2880"/>
              </a:lnSpc>
              <a:spcBef>
                <a:spcPct val="0"/>
              </a:spcBef>
            </a:pPr>
            <a:r>
              <a:rPr lang="en-US" sz="2400" spc="-48" strike="noStrike" u="none">
                <a:solidFill>
                  <a:srgbClr val="E3EAF4">
                    <a:alpha val="94902"/>
                  </a:srgbClr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성급한 확정 감소 ↔ 확인 지연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DAHYngMxvTU</dc:identifier>
  <dcterms:modified xsi:type="dcterms:W3CDTF">2011-08-01T06:04:30Z</dcterms:modified>
  <cp:revision>1</cp:revision>
  <dc:title>운영 장애 대응 에이전트 · G028 최민석</dc:title>
</cp:coreProperties>
</file>