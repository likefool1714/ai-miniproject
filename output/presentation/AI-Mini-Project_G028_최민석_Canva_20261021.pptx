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Source Han Sans KR Bold" charset="1" panose="020B0800000000000000"/>
      <p:regular r:id="rId14"/>
    </p:embeddedFont>
    <p:embeddedFont>
      <p:font typeface="Source Han Sans KR Medium" charset="1" panose="020B0600000000000000"/>
      <p:regular r:id="rId15"/>
    </p:embeddedFont>
    <p:embeddedFont>
      <p:font typeface="Source Han Sans KR" charset="1" panose="020B04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png" Type="http://schemas.openxmlformats.org/officeDocument/2006/relationships/image"/><Relationship Id="rId12" Target="../media/image63.png" Type="http://schemas.openxmlformats.org/officeDocument/2006/relationships/image"/><Relationship Id="rId13" Target="../media/image64.png" Type="http://schemas.openxmlformats.org/officeDocument/2006/relationships/image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Relationship Id="rId5" Target="../media/image68.png" Type="http://schemas.openxmlformats.org/officeDocument/2006/relationships/image"/><Relationship Id="rId6" Target="../media/image6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2020" y="898260"/>
            <a:ext cx="7449560" cy="241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45"/>
              </a:lnSpc>
            </a:pPr>
            <a:r>
              <a:rPr lang="en-US" sz="7716" spc="-154" b="tru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기존 스켈레톤은</a:t>
            </a:r>
          </a:p>
          <a:p>
            <a:pPr algn="l">
              <a:lnSpc>
                <a:spcPts val="9645"/>
              </a:lnSpc>
            </a:pPr>
            <a:r>
              <a:rPr lang="en-US" sz="7716" spc="-154" b="tru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어떻게 동작했을까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5273" y="3688558"/>
            <a:ext cx="8124239" cy="446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0"/>
              </a:lnSpc>
            </a:pPr>
            <a:r>
              <a:rPr lang="en-US" sz="2896" spc="-57" b="tru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운영 장애 대응 에이전트의 </a:t>
            </a:r>
            <a:r>
              <a:rPr lang="en-US" sz="2896" spc="-57" b="true">
                <a:solidFill>
                  <a:srgbClr val="2252CD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기존 처리 흐름</a:t>
            </a:r>
            <a:r>
              <a:rPr lang="en-US" sz="2896" spc="-57" b="tru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과 검증 방식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4493047"/>
            <a:ext cx="2843828" cy="2153601"/>
          </a:xfrm>
          <a:custGeom>
            <a:avLst/>
            <a:gdLst/>
            <a:ahLst/>
            <a:cxnLst/>
            <a:rect r="r" b="b" t="t" l="l"/>
            <a:pathLst>
              <a:path h="2153601" w="2843828">
                <a:moveTo>
                  <a:pt x="0" y="0"/>
                </a:moveTo>
                <a:lnTo>
                  <a:pt x="2843828" y="0"/>
                </a:lnTo>
                <a:lnTo>
                  <a:pt x="284382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78220" y="535667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915732" y="4493047"/>
            <a:ext cx="3051646" cy="2153601"/>
          </a:xfrm>
          <a:custGeom>
            <a:avLst/>
            <a:gdLst/>
            <a:ahLst/>
            <a:cxnLst/>
            <a:rect r="r" b="b" t="t" l="l"/>
            <a:pathLst>
              <a:path h="2153601" w="3051646">
                <a:moveTo>
                  <a:pt x="0" y="0"/>
                </a:moveTo>
                <a:lnTo>
                  <a:pt x="3051646" y="0"/>
                </a:lnTo>
                <a:lnTo>
                  <a:pt x="305164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22022" y="5028914"/>
            <a:ext cx="794812" cy="96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LLM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계획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748622" y="5356674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75196" y="4493047"/>
            <a:ext cx="3062584" cy="2153601"/>
          </a:xfrm>
          <a:custGeom>
            <a:avLst/>
            <a:gdLst/>
            <a:ahLst/>
            <a:cxnLst/>
            <a:rect r="r" b="b" t="t" l="l"/>
            <a:pathLst>
              <a:path h="2153601" w="3062584">
                <a:moveTo>
                  <a:pt x="0" y="0"/>
                </a:moveTo>
                <a:lnTo>
                  <a:pt x="3062584" y="0"/>
                </a:lnTo>
                <a:lnTo>
                  <a:pt x="306258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831745" y="4787941"/>
            <a:ext cx="1702252" cy="144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MCP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모니터링·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런북 조회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008086" y="535667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45598" y="4493047"/>
            <a:ext cx="2843828" cy="2153601"/>
          </a:xfrm>
          <a:custGeom>
            <a:avLst/>
            <a:gdLst/>
            <a:ahLst/>
            <a:cxnLst/>
            <a:rect r="r" b="b" t="t" l="l"/>
            <a:pathLst>
              <a:path h="2153601" w="2843828">
                <a:moveTo>
                  <a:pt x="0" y="0"/>
                </a:moveTo>
                <a:lnTo>
                  <a:pt x="2843828" y="0"/>
                </a:lnTo>
                <a:lnTo>
                  <a:pt x="284382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059732" y="5356674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716000" y="4493047"/>
            <a:ext cx="2832890" cy="2153601"/>
          </a:xfrm>
          <a:custGeom>
            <a:avLst/>
            <a:gdLst/>
            <a:ahLst/>
            <a:cxnLst/>
            <a:rect r="r" b="b" t="t" l="l"/>
            <a:pathLst>
              <a:path h="2153601" w="2832890">
                <a:moveTo>
                  <a:pt x="0" y="0"/>
                </a:moveTo>
                <a:lnTo>
                  <a:pt x="2832890" y="0"/>
                </a:lnTo>
                <a:lnTo>
                  <a:pt x="283289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735653" y="5028914"/>
            <a:ext cx="734434" cy="96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형식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검사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1013" y="6776083"/>
            <a:ext cx="2550288" cy="39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8"/>
              </a:lnSpc>
            </a:pPr>
            <a:r>
              <a:rPr lang="en-US" sz="2575" spc="-51" b="tru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기존 구성은 재사용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5909" y="7303213"/>
            <a:ext cx="5060686" cy="788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  <a:spcBef>
                <a:spcPct val="0"/>
              </a:spcBef>
            </a:pPr>
            <a:r>
              <a:rPr lang="en-US" b="true" sz="2575" spc="-51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graph.py 발췌: 답변 길이·번호 형식 검사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45330" y="7707051"/>
            <a:ext cx="8498670" cy="1508614"/>
          </a:xfrm>
          <a:custGeom>
            <a:avLst/>
            <a:gdLst/>
            <a:ahLst/>
            <a:cxnLst/>
            <a:rect r="r" b="b" t="t" l="l"/>
            <a:pathLst>
              <a:path h="1508614" w="8498670">
                <a:moveTo>
                  <a:pt x="0" y="0"/>
                </a:moveTo>
                <a:lnTo>
                  <a:pt x="8498670" y="0"/>
                </a:lnTo>
                <a:lnTo>
                  <a:pt x="8498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60747" y="8092605"/>
            <a:ext cx="5723784" cy="39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4"/>
              </a:lnSpc>
              <a:spcBef>
                <a:spcPct val="0"/>
              </a:spcBef>
            </a:pPr>
            <a:r>
              <a:rPr lang="en-US" b="true" sz="2249" spc="112" strike="noStrike" u="none">
                <a:solidFill>
                  <a:srgbClr val="947B94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ok = len(draft) &gt;= 30 and "1)" in draft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24202" y="9577347"/>
            <a:ext cx="1983696" cy="446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0"/>
              </a:lnSpc>
            </a:pPr>
            <a:r>
              <a:rPr lang="en-US" b="true" sz="2896" spc="-57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G028 최민석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30366" y="5269888"/>
            <a:ext cx="734434" cy="48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78"/>
              </a:lnSpc>
              <a:spcBef>
                <a:spcPct val="0"/>
              </a:spcBef>
            </a:pPr>
            <a:r>
              <a:rPr lang="en-US" b="true" sz="3102" spc="-62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질문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35163" y="5269888"/>
            <a:ext cx="734434" cy="48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답변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5065" y="936505"/>
            <a:ext cx="9787233" cy="963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3"/>
              </a:lnSpc>
            </a:pPr>
            <a:r>
              <a:rPr lang="en-US" sz="6426" b="tru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스켈레톤에 추가한 처리 흐름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7204" y="2337163"/>
            <a:ext cx="9573352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b="tru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질문부터 설명까지, 기존 연결 위에 </a:t>
            </a:r>
            <a:r>
              <a:rPr lang="en-US" sz="3032" b="true">
                <a:solidFill>
                  <a:srgbClr val="2259D5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핵심 처리</a:t>
            </a:r>
            <a:r>
              <a:rPr lang="en-US" sz="3032" b="tru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를 더했습니다.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3640352"/>
            <a:ext cx="3062584" cy="2361309"/>
          </a:xfrm>
          <a:custGeom>
            <a:avLst/>
            <a:gdLst/>
            <a:ahLst/>
            <a:cxnLst/>
            <a:rect r="r" b="b" t="t" l="l"/>
            <a:pathLst>
              <a:path h="2361309" w="3062584">
                <a:moveTo>
                  <a:pt x="0" y="0"/>
                </a:moveTo>
                <a:lnTo>
                  <a:pt x="3062584" y="0"/>
                </a:lnTo>
                <a:lnTo>
                  <a:pt x="306258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15769" y="4160938"/>
            <a:ext cx="1915945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질문·대상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확인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478220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34488" y="3640352"/>
            <a:ext cx="3051646" cy="2361309"/>
          </a:xfrm>
          <a:custGeom>
            <a:avLst/>
            <a:gdLst/>
            <a:ahLst/>
            <a:cxnLst/>
            <a:rect r="r" b="b" t="t" l="l"/>
            <a:pathLst>
              <a:path h="2361309" w="3051646">
                <a:moveTo>
                  <a:pt x="0" y="0"/>
                </a:moveTo>
                <a:lnTo>
                  <a:pt x="3051646" y="0"/>
                </a:lnTo>
                <a:lnTo>
                  <a:pt x="305164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98359" y="4160938"/>
            <a:ext cx="825220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관측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조회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956440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612708" y="3640352"/>
            <a:ext cx="3062584" cy="2361309"/>
          </a:xfrm>
          <a:custGeom>
            <a:avLst/>
            <a:gdLst/>
            <a:ahLst/>
            <a:cxnLst/>
            <a:rect r="r" b="b" t="t" l="l"/>
            <a:pathLst>
              <a:path h="2361309" w="3062584">
                <a:moveTo>
                  <a:pt x="0" y="0"/>
                </a:moveTo>
                <a:lnTo>
                  <a:pt x="3062584" y="0"/>
                </a:lnTo>
                <a:lnTo>
                  <a:pt x="306258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243677" y="4160938"/>
            <a:ext cx="1752246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관측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이력 저장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445598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01866" y="3640352"/>
            <a:ext cx="3051646" cy="2361309"/>
          </a:xfrm>
          <a:custGeom>
            <a:avLst/>
            <a:gdLst/>
            <a:ahLst/>
            <a:cxnLst/>
            <a:rect r="r" b="b" t="t" l="l"/>
            <a:pathLst>
              <a:path h="2361309" w="3051646">
                <a:moveTo>
                  <a:pt x="0" y="0"/>
                </a:moveTo>
                <a:lnTo>
                  <a:pt x="3051646" y="0"/>
                </a:lnTo>
                <a:lnTo>
                  <a:pt x="305164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684858" y="4160938"/>
            <a:ext cx="1915945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변화·복구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판정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923818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580086" y="3640352"/>
            <a:ext cx="3062584" cy="2361309"/>
          </a:xfrm>
          <a:custGeom>
            <a:avLst/>
            <a:gdLst/>
            <a:ahLst/>
            <a:cxnLst/>
            <a:rect r="r" b="b" t="t" l="l"/>
            <a:pathLst>
              <a:path h="2361309" w="3062584">
                <a:moveTo>
                  <a:pt x="0" y="0"/>
                </a:moveTo>
                <a:lnTo>
                  <a:pt x="3062584" y="0"/>
                </a:lnTo>
                <a:lnTo>
                  <a:pt x="3062584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057178" y="4160938"/>
            <a:ext cx="2164856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근거 검사와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설명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45330" y="6635716"/>
            <a:ext cx="1968804" cy="655919"/>
          </a:xfrm>
          <a:custGeom>
            <a:avLst/>
            <a:gdLst/>
            <a:ahLst/>
            <a:cxnLst/>
            <a:rect r="r" b="b" t="t" l="l"/>
            <a:pathLst>
              <a:path h="655919" w="1968804">
                <a:moveTo>
                  <a:pt x="0" y="0"/>
                </a:moveTo>
                <a:lnTo>
                  <a:pt x="1968804" y="0"/>
                </a:lnTo>
                <a:lnTo>
                  <a:pt x="196880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848359" y="6670489"/>
            <a:ext cx="1807071" cy="54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8"/>
              </a:lnSpc>
            </a:pPr>
            <a:r>
              <a:rPr lang="en-US" sz="3537" b="tru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기존 연동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72020" y="6736316"/>
            <a:ext cx="3405070" cy="45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b="tru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MCP · 모델 · 웹 연결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45330" y="7707051"/>
            <a:ext cx="1968804" cy="437279"/>
          </a:xfrm>
          <a:custGeom>
            <a:avLst/>
            <a:gdLst/>
            <a:ahLst/>
            <a:cxnLst/>
            <a:rect r="r" b="b" t="t" l="l"/>
            <a:pathLst>
              <a:path h="437279" w="1968804">
                <a:moveTo>
                  <a:pt x="0" y="0"/>
                </a:moveTo>
                <a:lnTo>
                  <a:pt x="1968804" y="0"/>
                </a:lnTo>
                <a:lnTo>
                  <a:pt x="1968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844104" y="7739809"/>
            <a:ext cx="2232590" cy="54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8"/>
              </a:lnSpc>
            </a:pPr>
            <a:r>
              <a:rPr lang="en-US" sz="3537" b="true">
                <a:solidFill>
                  <a:srgbClr val="2259D5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추가한 처리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53976" y="7805636"/>
            <a:ext cx="5209425" cy="45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4"/>
              </a:lnSpc>
              <a:spcBef>
                <a:spcPct val="0"/>
              </a:spcBef>
            </a:pPr>
            <a:r>
              <a:rPr lang="en-US" b="true" sz="2896" strike="noStrike" u="non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관측 기록 · 정책 판정 · 근거 검증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13376" y="9596488"/>
            <a:ext cx="2129955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3032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G028 최민석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3640" y="800957"/>
            <a:ext cx="8250802" cy="963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3"/>
              </a:lnSpc>
            </a:pPr>
            <a:r>
              <a:rPr lang="en-US" sz="6426" b="tru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개선이 필요했던 세 가지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4571" y="2020885"/>
            <a:ext cx="7157768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기존 원본과 실행 기록에서 발견한 문제입니다.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995365"/>
            <a:ext cx="3718852" cy="2153601"/>
          </a:xfrm>
          <a:custGeom>
            <a:avLst/>
            <a:gdLst/>
            <a:ahLst/>
            <a:cxnLst/>
            <a:rect r="r" b="b" t="t" l="l"/>
            <a:pathLst>
              <a:path h="2153601" w="3718852">
                <a:moveTo>
                  <a:pt x="0" y="0"/>
                </a:moveTo>
                <a:lnTo>
                  <a:pt x="3718852" y="0"/>
                </a:lnTo>
                <a:lnTo>
                  <a:pt x="371885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58375" y="3255874"/>
            <a:ext cx="1502310" cy="148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32"/>
              </a:lnSpc>
            </a:pPr>
            <a:r>
              <a:rPr lang="en-US" sz="9775" b="true">
                <a:solidFill>
                  <a:srgbClr val="2262E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29810" y="3496848"/>
            <a:ext cx="7790901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b="tru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현재 정상과 안정적인 복구를 구분하지 못함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30919" y="4249890"/>
            <a:ext cx="7679985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정상 수치 한 번으로 복구를 확정하는 문제가 있었습니다.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4919394"/>
            <a:ext cx="16778584" cy="229572"/>
          </a:xfrm>
          <a:custGeom>
            <a:avLst/>
            <a:gdLst/>
            <a:ahLst/>
            <a:cxnLst/>
            <a:rect r="r" b="b" t="t" l="l"/>
            <a:pathLst>
              <a:path h="229572" w="16778584">
                <a:moveTo>
                  <a:pt x="0" y="0"/>
                </a:moveTo>
                <a:lnTo>
                  <a:pt x="16778584" y="0"/>
                </a:lnTo>
                <a:lnTo>
                  <a:pt x="1677858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5330" y="4919394"/>
            <a:ext cx="3718852" cy="2153601"/>
          </a:xfrm>
          <a:custGeom>
            <a:avLst/>
            <a:gdLst/>
            <a:ahLst/>
            <a:cxnLst/>
            <a:rect r="r" b="b" t="t" l="l"/>
            <a:pathLst>
              <a:path h="2153601" w="3718852">
                <a:moveTo>
                  <a:pt x="0" y="0"/>
                </a:moveTo>
                <a:lnTo>
                  <a:pt x="3718852" y="0"/>
                </a:lnTo>
                <a:lnTo>
                  <a:pt x="3718852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58375" y="5304148"/>
            <a:ext cx="1502310" cy="148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32"/>
              </a:lnSpc>
            </a:pPr>
            <a:r>
              <a:rPr lang="en-US" sz="9775" b="true">
                <a:solidFill>
                  <a:srgbClr val="2262E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42961" y="5515000"/>
            <a:ext cx="6475760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b="tru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이후 요청에서도 조사 대상이 혼동됨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34737" y="6268043"/>
            <a:ext cx="7298174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이전 조사 대상을 유지하지 않아 혼선이 발생했습니다.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5330" y="6854356"/>
            <a:ext cx="16778584" cy="218640"/>
          </a:xfrm>
          <a:custGeom>
            <a:avLst/>
            <a:gdLst/>
            <a:ahLst/>
            <a:cxnLst/>
            <a:rect r="r" b="b" t="t" l="l"/>
            <a:pathLst>
              <a:path h="218640" w="16778584">
                <a:moveTo>
                  <a:pt x="0" y="0"/>
                </a:moveTo>
                <a:lnTo>
                  <a:pt x="16778584" y="0"/>
                </a:lnTo>
                <a:lnTo>
                  <a:pt x="1677858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45330" y="7062064"/>
            <a:ext cx="3718852" cy="1945894"/>
          </a:xfrm>
          <a:custGeom>
            <a:avLst/>
            <a:gdLst/>
            <a:ahLst/>
            <a:cxnLst/>
            <a:rect r="r" b="b" t="t" l="l"/>
            <a:pathLst>
              <a:path h="1945894" w="3718852">
                <a:moveTo>
                  <a:pt x="0" y="0"/>
                </a:moveTo>
                <a:lnTo>
                  <a:pt x="3718852" y="0"/>
                </a:lnTo>
                <a:lnTo>
                  <a:pt x="3718852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58375" y="7292179"/>
            <a:ext cx="1502310" cy="148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32"/>
              </a:lnSpc>
            </a:pPr>
            <a:r>
              <a:rPr lang="en-US" sz="9775" b="true">
                <a:solidFill>
                  <a:srgbClr val="2262E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28810" y="7503031"/>
            <a:ext cx="7890846" cy="49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366" b="tru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실제로 조회하지 않은 자료를 확인한 듯 답변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31664" y="8286195"/>
            <a:ext cx="7605493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575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확인한 근거가 아닌 내용으로 답변한 사례가 있었습니다.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67995" y="9596488"/>
            <a:ext cx="2047354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b="true" sz="2896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G028 최민석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9564" y="810482"/>
            <a:ext cx="9979530" cy="90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3"/>
              </a:lnSpc>
            </a:pPr>
            <a:r>
              <a:rPr lang="en-US" sz="6068" b="true">
                <a:solidFill>
                  <a:srgbClr val="F4F4F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전에는 이렇게 답했습니다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6908" y="2222212"/>
            <a:ext cx="10245129" cy="47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3"/>
              </a:lnSpc>
              <a:spcBef>
                <a:spcPct val="0"/>
              </a:spcBef>
            </a:pPr>
            <a:r>
              <a:rPr lang="en-US" sz="3102" strike="noStrike" u="none">
                <a:solidFill>
                  <a:srgbClr val="F4F4F4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합성 관측과 실제 답변 발췌: 장애 후 정상 첫 관측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3640352"/>
            <a:ext cx="8509608" cy="5148966"/>
          </a:xfrm>
          <a:custGeom>
            <a:avLst/>
            <a:gdLst/>
            <a:ahLst/>
            <a:cxnLst/>
            <a:rect r="r" b="b" t="t" l="l"/>
            <a:pathLst>
              <a:path h="5148966" w="8509608">
                <a:moveTo>
                  <a:pt x="0" y="0"/>
                </a:moveTo>
                <a:lnTo>
                  <a:pt x="8509608" y="0"/>
                </a:lnTo>
                <a:lnTo>
                  <a:pt x="8509608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4086" y="3848060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1598" y="3848060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39110" y="3848060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60476" y="5243905"/>
            <a:ext cx="2723518" cy="39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5"/>
              </a:lnSpc>
              <a:spcBef>
                <a:spcPct val="0"/>
              </a:spcBef>
            </a:pPr>
            <a:r>
              <a:rPr lang="en-US" sz="2654" strike="noStrike" u="none">
                <a:solidFill>
                  <a:srgbClr val="F4F4F4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CPU 55%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4191" y="5861400"/>
            <a:ext cx="3352023" cy="39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5"/>
              </a:lnSpc>
              <a:spcBef>
                <a:spcPct val="0"/>
              </a:spcBef>
            </a:pPr>
            <a:r>
              <a:rPr lang="en-US" sz="2654" strike="noStrike" u="none">
                <a:solidFill>
                  <a:srgbClr val="F4F4F4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메모리 60%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7906" y="6478894"/>
            <a:ext cx="3980527" cy="39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5"/>
              </a:lnSpc>
              <a:spcBef>
                <a:spcPct val="0"/>
              </a:spcBef>
            </a:pPr>
            <a:r>
              <a:rPr lang="en-US" sz="2654" strike="noStrike" u="none">
                <a:solidFill>
                  <a:srgbClr val="F4F4F4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활성 알림 0건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01598" y="6854356"/>
            <a:ext cx="6978316" cy="863627"/>
          </a:xfrm>
          <a:custGeom>
            <a:avLst/>
            <a:gdLst/>
            <a:ahLst/>
            <a:cxnLst/>
            <a:rect r="r" b="b" t="t" l="l"/>
            <a:pathLst>
              <a:path h="863627" w="6978316">
                <a:moveTo>
                  <a:pt x="0" y="0"/>
                </a:moveTo>
                <a:lnTo>
                  <a:pt x="6978316" y="0"/>
                </a:lnTo>
                <a:lnTo>
                  <a:pt x="697831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72267" y="7081328"/>
            <a:ext cx="6186576" cy="39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5"/>
              </a:lnSpc>
              <a:spcBef>
                <a:spcPct val="0"/>
              </a:spcBef>
            </a:pPr>
            <a:r>
              <a:rPr lang="en-US" b="true" sz="2654" strike="noStrike" u="none">
                <a:solidFill>
                  <a:srgbClr val="3871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답변: “현재 상태 기준 복구 완료”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57223" y="3647456"/>
            <a:ext cx="1362807" cy="39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>
                <a:solidFill>
                  <a:srgbClr val="F4F4F4">
                    <a:alpha val="69804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당시 판단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95658" y="4249890"/>
            <a:ext cx="7519317" cy="856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6"/>
              </a:lnSpc>
            </a:pPr>
            <a:r>
              <a:rPr lang="en-US" sz="5729" b="true">
                <a:solidFill>
                  <a:srgbClr val="3871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현재 상태 기준 복구 완료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570574" y="5564382"/>
            <a:ext cx="8072096" cy="229572"/>
          </a:xfrm>
          <a:custGeom>
            <a:avLst/>
            <a:gdLst/>
            <a:ahLst/>
            <a:cxnLst/>
            <a:rect r="r" b="b" t="t" l="l"/>
            <a:pathLst>
              <a:path h="229572" w="8072096">
                <a:moveTo>
                  <a:pt x="0" y="0"/>
                </a:moveTo>
                <a:lnTo>
                  <a:pt x="8072096" y="0"/>
                </a:lnTo>
                <a:lnTo>
                  <a:pt x="807209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661214" y="6027069"/>
            <a:ext cx="963707" cy="39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>
                <a:solidFill>
                  <a:srgbClr val="F4F4F4">
                    <a:alpha val="69804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하지만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26312" y="6619977"/>
            <a:ext cx="4453938" cy="59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8"/>
              </a:lnSpc>
            </a:pPr>
            <a:r>
              <a:rPr lang="en-US" sz="3939" b="true">
                <a:solidFill>
                  <a:srgbClr val="F4F4F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정상 관측은 아직 </a:t>
            </a:r>
            <a:r>
              <a:rPr lang="en-US" sz="3939" b="true">
                <a:solidFill>
                  <a:srgbClr val="3871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1회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22862" y="7629054"/>
            <a:ext cx="4798985" cy="47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3"/>
              </a:lnSpc>
              <a:spcBef>
                <a:spcPct val="0"/>
              </a:spcBef>
            </a:pPr>
            <a:r>
              <a:rPr lang="en-US" sz="3102" strike="noStrike" u="none">
                <a:solidFill>
                  <a:srgbClr val="F4F4F4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현재 수치만으로 복구를 확정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17263" y="8291731"/>
            <a:ext cx="5358846" cy="47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>
                <a:solidFill>
                  <a:srgbClr val="F4F4F4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이전 상태와 연속 관측 근거 부족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58369" y="9571902"/>
            <a:ext cx="2211575" cy="47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3102" b="true">
                <a:solidFill>
                  <a:srgbClr val="F4F4F4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G028 최민석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7721" y="966626"/>
            <a:ext cx="12484964" cy="94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6"/>
              </a:lnSpc>
            </a:pPr>
            <a:r>
              <a:rPr lang="en-US" sz="6287" spc="-125" b="tru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코드는 판단과 설명을 나눴습니다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2219" y="2352224"/>
            <a:ext cx="13035093" cy="41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2"/>
              </a:lnSpc>
              <a:spcBef>
                <a:spcPct val="0"/>
              </a:spcBef>
            </a:pPr>
            <a:r>
              <a:rPr lang="en-US" sz="2759" spc="-55" strike="noStrike" u="none">
                <a:solidFill>
                  <a:srgbClr val="F6F6F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구현의 핵심 발췌입니다. 판정·근거 검사·재작성 제한을 나눴습니다.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3640352"/>
            <a:ext cx="2187560" cy="863627"/>
          </a:xfrm>
          <a:custGeom>
            <a:avLst/>
            <a:gdLst/>
            <a:ahLst/>
            <a:cxnLst/>
            <a:rect r="r" b="b" t="t" l="l"/>
            <a:pathLst>
              <a:path h="863627" w="2187560">
                <a:moveTo>
                  <a:pt x="0" y="0"/>
                </a:moveTo>
                <a:lnTo>
                  <a:pt x="2187560" y="0"/>
                </a:lnTo>
                <a:lnTo>
                  <a:pt x="218756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574" y="4285339"/>
            <a:ext cx="5457962" cy="2579949"/>
          </a:xfrm>
          <a:custGeom>
            <a:avLst/>
            <a:gdLst/>
            <a:ahLst/>
            <a:cxnLst/>
            <a:rect r="r" b="b" t="t" l="l"/>
            <a:pathLst>
              <a:path h="2579949" w="5457962">
                <a:moveTo>
                  <a:pt x="0" y="0"/>
                </a:moveTo>
                <a:lnTo>
                  <a:pt x="5457962" y="0"/>
                </a:lnTo>
                <a:lnTo>
                  <a:pt x="545796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1133" y="4639573"/>
            <a:ext cx="3896086" cy="69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9"/>
              </a:lnSpc>
              <a:spcBef>
                <a:spcPct val="0"/>
              </a:spcBef>
            </a:pPr>
            <a:r>
              <a:rPr lang="en-US" sz="2699" spc="-188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normal_streak += 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873598" y="3640352"/>
            <a:ext cx="2625072" cy="863627"/>
          </a:xfrm>
          <a:custGeom>
            <a:avLst/>
            <a:gdLst/>
            <a:ahLst/>
            <a:cxnLst/>
            <a:rect r="r" b="b" t="t" l="l"/>
            <a:pathLst>
              <a:path h="863627" w="2625072">
                <a:moveTo>
                  <a:pt x="0" y="0"/>
                </a:moveTo>
                <a:lnTo>
                  <a:pt x="2625072" y="0"/>
                </a:lnTo>
                <a:lnTo>
                  <a:pt x="262507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73598" y="4285339"/>
            <a:ext cx="6322048" cy="2579949"/>
          </a:xfrm>
          <a:custGeom>
            <a:avLst/>
            <a:gdLst/>
            <a:ahLst/>
            <a:cxnLst/>
            <a:rect r="r" b="b" t="t" l="l"/>
            <a:pathLst>
              <a:path h="2579949" w="6322048">
                <a:moveTo>
                  <a:pt x="0" y="0"/>
                </a:moveTo>
                <a:lnTo>
                  <a:pt x="6322048" y="0"/>
                </a:lnTo>
                <a:lnTo>
                  <a:pt x="632204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05525" y="4686300"/>
            <a:ext cx="3530727" cy="1183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02"/>
              </a:lnSpc>
              <a:spcBef>
                <a:spcPct val="0"/>
              </a:spcBef>
            </a:pPr>
            <a:r>
              <a:rPr lang="en-US" sz="2175" spc="-151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draft, errors = validate_draft(</a:t>
            </a:r>
          </a:p>
          <a:p>
            <a:pPr algn="l" marL="0" indent="0" lvl="0">
              <a:lnSpc>
                <a:spcPts val="5002"/>
              </a:lnSpc>
              <a:spcBef>
                <a:spcPct val="0"/>
              </a:spcBef>
            </a:pPr>
            <a:r>
              <a:rPr lang="en-US" sz="2175" spc="-151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  state["draft"], bundle)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403464" y="3640352"/>
            <a:ext cx="2187560" cy="863627"/>
          </a:xfrm>
          <a:custGeom>
            <a:avLst/>
            <a:gdLst/>
            <a:ahLst/>
            <a:cxnLst/>
            <a:rect r="r" b="b" t="t" l="l"/>
            <a:pathLst>
              <a:path h="863627" w="2187560">
                <a:moveTo>
                  <a:pt x="0" y="0"/>
                </a:moveTo>
                <a:lnTo>
                  <a:pt x="2187560" y="0"/>
                </a:lnTo>
                <a:lnTo>
                  <a:pt x="218756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03464" y="4285339"/>
            <a:ext cx="5457962" cy="2579949"/>
          </a:xfrm>
          <a:custGeom>
            <a:avLst/>
            <a:gdLst/>
            <a:ahLst/>
            <a:cxnLst/>
            <a:rect r="r" b="b" t="t" l="l"/>
            <a:pathLst>
              <a:path h="2579949" w="5457962">
                <a:moveTo>
                  <a:pt x="0" y="0"/>
                </a:moveTo>
                <a:lnTo>
                  <a:pt x="5457962" y="0"/>
                </a:lnTo>
                <a:lnTo>
                  <a:pt x="545796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762560" y="4639573"/>
            <a:ext cx="4261221" cy="69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9"/>
              </a:lnSpc>
              <a:spcBef>
                <a:spcPct val="0"/>
              </a:spcBef>
            </a:pPr>
            <a:r>
              <a:rPr lang="en-US" sz="2700" spc="-188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attempts &lt;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4014" y="7035456"/>
            <a:ext cx="5176692" cy="165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3"/>
              </a:lnSpc>
              <a:spcBef>
                <a:spcPct val="0"/>
              </a:spcBef>
            </a:pPr>
            <a:r>
              <a:rPr lang="en-US" b="true" sz="2311" spc="-46" strike="noStrike" u="none">
                <a:solidFill>
                  <a:srgbClr val="2252C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유효한 정상 관측을 셉니다.</a:t>
            </a:r>
          </a:p>
          <a:p>
            <a:pPr algn="l" marL="0" indent="0" lvl="0">
              <a:lnSpc>
                <a:spcPts val="4623"/>
              </a:lnSpc>
              <a:spcBef>
                <a:spcPct val="0"/>
              </a:spcBef>
            </a:pPr>
            <a:r>
              <a:rPr lang="en-US" b="true" sz="2311" spc="-46" strike="noStrike" u="none">
                <a:solidFill>
                  <a:srgbClr val="2252C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정상 2회·간격 조건으로</a:t>
            </a:r>
          </a:p>
          <a:p>
            <a:pPr algn="l" marL="0" indent="0" lvl="0">
              <a:lnSpc>
                <a:spcPts val="4623"/>
              </a:lnSpc>
              <a:spcBef>
                <a:spcPct val="0"/>
              </a:spcBef>
            </a:pPr>
            <a:r>
              <a:rPr lang="en-US" b="true" sz="2311" spc="-46" strike="noStrike" u="none">
                <a:solidFill>
                  <a:srgbClr val="2252C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복구 여부를 판단합니다.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05948" y="7035455"/>
            <a:ext cx="3773960" cy="165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3"/>
              </a:lnSpc>
              <a:spcBef>
                <a:spcPct val="0"/>
              </a:spcBef>
            </a:pPr>
            <a:r>
              <a:rPr lang="en-US" sz="2311" spc="-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grounding.py의 검증 함수로</a:t>
            </a:r>
          </a:p>
          <a:p>
            <a:pPr algn="l" marL="0" indent="0" lvl="0">
              <a:lnSpc>
                <a:spcPts val="4623"/>
              </a:lnSpc>
              <a:spcBef>
                <a:spcPct val="0"/>
              </a:spcBef>
            </a:pPr>
            <a:r>
              <a:rPr lang="en-US" sz="2311" spc="-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근거·런북과 모델 선택을</a:t>
            </a:r>
          </a:p>
          <a:p>
            <a:pPr algn="l" marL="0" indent="0" lvl="0">
              <a:lnSpc>
                <a:spcPts val="4623"/>
              </a:lnSpc>
              <a:spcBef>
                <a:spcPct val="0"/>
              </a:spcBef>
            </a:pPr>
            <a:r>
              <a:rPr lang="en-US" sz="2311" spc="-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대조합니다.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92050" y="7038975"/>
            <a:ext cx="4804367" cy="155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0"/>
              </a:lnSpc>
              <a:spcBef>
                <a:spcPct val="0"/>
              </a:spcBef>
            </a:pPr>
            <a:r>
              <a:rPr lang="en-US" sz="2175" spc="-43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실패 시 재작성은 최대 1회.</a:t>
            </a:r>
          </a:p>
          <a:p>
            <a:pPr algn="l" marL="0" indent="0" lvl="0">
              <a:lnSpc>
                <a:spcPts val="4350"/>
              </a:lnSpc>
              <a:spcBef>
                <a:spcPct val="0"/>
              </a:spcBef>
            </a:pPr>
            <a:r>
              <a:rPr lang="en-US" sz="2175" spc="-43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다시 실패하면</a:t>
            </a:r>
          </a:p>
          <a:p>
            <a:pPr algn="l" marL="0" indent="0" lvl="0">
              <a:lnSpc>
                <a:spcPts val="4350"/>
              </a:lnSpc>
              <a:spcBef>
                <a:spcPct val="0"/>
              </a:spcBef>
            </a:pPr>
            <a:r>
              <a:rPr lang="en-US" sz="2175" spc="-43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보류로 안내합니다.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83468" y="9581427"/>
            <a:ext cx="1986559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b="true" sz="2896" spc="-57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G028 최민석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22219" y="3892085"/>
            <a:ext cx="5036344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6"/>
              </a:lnSpc>
              <a:spcBef>
                <a:spcPct val="0"/>
              </a:spcBef>
            </a:pPr>
            <a:r>
              <a:rPr lang="en-US" b="true" sz="232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graph.py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0094" y="3892085"/>
            <a:ext cx="5036344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46" b="tru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recovery.py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51594" y="3892085"/>
            <a:ext cx="5036344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6"/>
              </a:lnSpc>
              <a:spcBef>
                <a:spcPct val="0"/>
              </a:spcBef>
            </a:pPr>
            <a:r>
              <a:rPr lang="en-US" b="true" sz="232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graph.py · 재작성 조건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7387" y="831079"/>
            <a:ext cx="10555013" cy="108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8"/>
              </a:lnSpc>
            </a:pPr>
            <a:r>
              <a:rPr lang="en-US" sz="7264" spc="-145" b="tru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같은 관측으로 비교했습니다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3190" y="2337163"/>
            <a:ext cx="9690353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57" b="tru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같은 질문, </a:t>
            </a:r>
            <a:r>
              <a:rPr lang="en-US" sz="2896" spc="-57" b="true">
                <a:solidFill>
                  <a:srgbClr val="3879E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5단계 관측</a:t>
            </a:r>
            <a:r>
              <a:rPr lang="en-US" sz="2896" spc="-57" b="tru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을 </a:t>
            </a:r>
            <a:r>
              <a:rPr lang="en-US" sz="2896" spc="-57" b="true">
                <a:solidFill>
                  <a:srgbClr val="3879E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3회</a:t>
            </a:r>
            <a:r>
              <a:rPr lang="en-US" sz="2896" spc="-57" b="tru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반복한 10월 20일 실측 결과입니다.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3214004"/>
            <a:ext cx="7634584" cy="1934962"/>
          </a:xfrm>
          <a:custGeom>
            <a:avLst/>
            <a:gdLst/>
            <a:ahLst/>
            <a:cxnLst/>
            <a:rect r="r" b="b" t="t" l="l"/>
            <a:pathLst>
              <a:path h="1934962" w="7634584">
                <a:moveTo>
                  <a:pt x="0" y="0"/>
                </a:moveTo>
                <a:lnTo>
                  <a:pt x="7634584" y="0"/>
                </a:lnTo>
                <a:lnTo>
                  <a:pt x="763458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41630" y="3674034"/>
            <a:ext cx="3176886" cy="125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조기 복구 오류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(적을수록 좋음)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04410" y="3412019"/>
            <a:ext cx="176053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0"/>
              </a:lnSpc>
            </a:pPr>
            <a:r>
              <a:rPr lang="en-US" b="true" sz="9015" spc="-180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3/3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487732" y="3848060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70574" y="3214004"/>
            <a:ext cx="7634584" cy="1934962"/>
          </a:xfrm>
          <a:custGeom>
            <a:avLst/>
            <a:gdLst/>
            <a:ahLst/>
            <a:cxnLst/>
            <a:rect r="r" b="b" t="t" l="l"/>
            <a:pathLst>
              <a:path h="1934962" w="7634584">
                <a:moveTo>
                  <a:pt x="0" y="0"/>
                </a:moveTo>
                <a:lnTo>
                  <a:pt x="7634584" y="0"/>
                </a:lnTo>
                <a:lnTo>
                  <a:pt x="763458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148075" y="3674034"/>
            <a:ext cx="3176886" cy="125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조기 복구 오류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(적을수록 좋음)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10855" y="3412019"/>
            <a:ext cx="176053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0"/>
              </a:lnSpc>
            </a:pPr>
            <a:r>
              <a:rPr lang="en-US" b="true" sz="9015" spc="-180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0/3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64086" y="5138034"/>
            <a:ext cx="7634584" cy="1934962"/>
          </a:xfrm>
          <a:custGeom>
            <a:avLst/>
            <a:gdLst/>
            <a:ahLst/>
            <a:cxnLst/>
            <a:rect r="r" b="b" t="t" l="l"/>
            <a:pathLst>
              <a:path h="1934962" w="7634584">
                <a:moveTo>
                  <a:pt x="0" y="0"/>
                </a:moveTo>
                <a:lnTo>
                  <a:pt x="7634584" y="0"/>
                </a:lnTo>
                <a:lnTo>
                  <a:pt x="763458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53694" y="5571476"/>
            <a:ext cx="1970441" cy="125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재발 안내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(많을수록 좋음)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04410" y="5309685"/>
            <a:ext cx="176053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0"/>
              </a:lnSpc>
            </a:pPr>
            <a:r>
              <a:rPr lang="en-US" b="true" sz="9015" spc="-180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0/3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487732" y="5783021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570574" y="5138034"/>
            <a:ext cx="7634584" cy="1934962"/>
          </a:xfrm>
          <a:custGeom>
            <a:avLst/>
            <a:gdLst/>
            <a:ahLst/>
            <a:cxnLst/>
            <a:rect r="r" b="b" t="t" l="l"/>
            <a:pathLst>
              <a:path h="1934962" w="7634584">
                <a:moveTo>
                  <a:pt x="0" y="0"/>
                </a:moveTo>
                <a:lnTo>
                  <a:pt x="7634584" y="0"/>
                </a:lnTo>
                <a:lnTo>
                  <a:pt x="763458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160139" y="5571476"/>
            <a:ext cx="1970441" cy="125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재발 안내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(많을수록 좋음)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10855" y="5309685"/>
            <a:ext cx="176053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0"/>
              </a:lnSpc>
            </a:pPr>
            <a:r>
              <a:rPr lang="en-US" b="true" sz="9015" spc="-180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3/3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458" y="7322302"/>
            <a:ext cx="11042485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575" spc="-51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설명 보완 후 전체 재검증과 실제 API 확인은 별도 검사로 완료했습니다.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79580" y="8038177"/>
            <a:ext cx="2099375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b="true" sz="2311" spc="-46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최신 로컬 웹 복구</a:t>
            </a:r>
          </a:p>
          <a:p>
            <a:pPr algn="ctr">
              <a:lnSpc>
                <a:spcPts val="3467"/>
              </a:lnSpc>
            </a:pPr>
            <a:r>
              <a:rPr lang="en-US" b="true" sz="2311" spc="-46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15/15단계 일치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654842" y="7925691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847617" y="8038177"/>
            <a:ext cx="3818919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b="true" sz="2311" spc="-46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실제 제공 API 진단</a:t>
            </a:r>
          </a:p>
          <a:p>
            <a:pPr algn="ctr">
              <a:lnSpc>
                <a:spcPts val="3467"/>
              </a:lnSpc>
            </a:pPr>
            <a:r>
              <a:rPr lang="en-US" b="true" sz="2311" spc="-46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POST 3건 · SSE 1건 검증 통과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747196" y="7925691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049959" y="8038177"/>
            <a:ext cx="2310384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7"/>
              </a:lnSpc>
              <a:spcBef>
                <a:spcPct val="0"/>
              </a:spcBef>
            </a:pPr>
            <a:r>
              <a:rPr lang="en-US" b="true" sz="231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일반 장애 정확도를</a:t>
            </a:r>
          </a:p>
          <a:p>
            <a:pPr algn="l" marL="0" indent="0" lvl="0">
              <a:lnSpc>
                <a:spcPts val="3467"/>
              </a:lnSpc>
              <a:spcBef>
                <a:spcPct val="0"/>
              </a:spcBef>
            </a:pPr>
            <a:r>
              <a:rPr lang="en-US" b="true" sz="231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측정한 결과는 아님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54940" y="9521184"/>
            <a:ext cx="1907371" cy="41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b="true" sz="2759" spc="-55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G028 최민석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2841" y="795422"/>
            <a:ext cx="13009689" cy="98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5"/>
              </a:lnSpc>
            </a:pPr>
            <a:r>
              <a:rPr lang="en-US" sz="6662" spc="-198" b="true">
                <a:solidFill>
                  <a:srgbClr val="F8F8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추가 기능으로 조사 기록을 이어갑니다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2276" y="2141372"/>
            <a:ext cx="9066109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>
                <a:solidFill>
                  <a:srgbClr val="F8F8F8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관측을 이어가며 변화와 재발을 확인하고, 보고서로 남깁니다.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995365"/>
            <a:ext cx="3062584" cy="3651284"/>
          </a:xfrm>
          <a:custGeom>
            <a:avLst/>
            <a:gdLst/>
            <a:ahLst/>
            <a:cxnLst/>
            <a:rect r="r" b="b" t="t" l="l"/>
            <a:pathLst>
              <a:path h="3651284" w="3062584">
                <a:moveTo>
                  <a:pt x="0" y="0"/>
                </a:moveTo>
                <a:lnTo>
                  <a:pt x="3062584" y="0"/>
                </a:lnTo>
                <a:lnTo>
                  <a:pt x="3062584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38320" y="3542031"/>
            <a:ext cx="645296" cy="66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spc="-132" b="true">
                <a:solidFill>
                  <a:srgbClr val="3D59E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0515" y="4415559"/>
            <a:ext cx="1425864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 b="true">
                <a:solidFill>
                  <a:srgbClr val="F8F8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새로 진단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4773" y="5051261"/>
            <a:ext cx="2866430" cy="90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188" spc="-108">
                <a:solidFill>
                  <a:srgbClr val="F8F8F8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대상을 선택하고</a:t>
            </a:r>
          </a:p>
          <a:p>
            <a:pPr algn="l">
              <a:lnSpc>
                <a:spcPts val="3720"/>
              </a:lnSpc>
            </a:pPr>
            <a:r>
              <a:rPr lang="en-US" sz="2188" spc="-108">
                <a:solidFill>
                  <a:srgbClr val="F8F8F8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새 관측을 저장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478220" y="4493047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15732" y="2995365"/>
            <a:ext cx="3270402" cy="3651284"/>
          </a:xfrm>
          <a:custGeom>
            <a:avLst/>
            <a:gdLst/>
            <a:ahLst/>
            <a:cxnLst/>
            <a:rect r="r" b="b" t="t" l="l"/>
            <a:pathLst>
              <a:path h="3651284" w="3270402">
                <a:moveTo>
                  <a:pt x="0" y="0"/>
                </a:moveTo>
                <a:lnTo>
                  <a:pt x="3270402" y="0"/>
                </a:lnTo>
                <a:lnTo>
                  <a:pt x="3270402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20899" y="3542031"/>
            <a:ext cx="645296" cy="66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spc="-132" b="true">
                <a:solidFill>
                  <a:srgbClr val="3D59E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09715" y="4415559"/>
            <a:ext cx="1763624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 b="true">
                <a:solidFill>
                  <a:srgbClr val="F8F8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복구 재점검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27352" y="5051261"/>
            <a:ext cx="2866430" cy="90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0"/>
              </a:lnSpc>
              <a:spcBef>
                <a:spcPct val="0"/>
              </a:spcBef>
            </a:pPr>
            <a:r>
              <a:rPr lang="en-US" sz="2188" spc="-108" strike="noStrike" u="none">
                <a:solidFill>
                  <a:srgbClr val="F8F8F8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새 관측으로</a:t>
            </a:r>
          </a:p>
          <a:p>
            <a:pPr algn="l" marL="0" indent="0" lvl="0">
              <a:lnSpc>
                <a:spcPts val="3720"/>
              </a:lnSpc>
              <a:spcBef>
                <a:spcPct val="0"/>
              </a:spcBef>
            </a:pPr>
            <a:r>
              <a:rPr lang="en-US" sz="2188" spc="-108" strike="noStrike" u="none">
                <a:solidFill>
                  <a:srgbClr val="F8F8F8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회복 상태 재확인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956440" y="4493047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393952" y="2995365"/>
            <a:ext cx="3281340" cy="3651284"/>
          </a:xfrm>
          <a:custGeom>
            <a:avLst/>
            <a:gdLst/>
            <a:ahLst/>
            <a:cxnLst/>
            <a:rect r="r" b="b" t="t" l="l"/>
            <a:pathLst>
              <a:path h="3651284" w="3281340">
                <a:moveTo>
                  <a:pt x="0" y="0"/>
                </a:moveTo>
                <a:lnTo>
                  <a:pt x="3281340" y="0"/>
                </a:lnTo>
                <a:lnTo>
                  <a:pt x="3281340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923110" y="3542031"/>
            <a:ext cx="645296" cy="66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spc="-132" b="true">
                <a:solidFill>
                  <a:srgbClr val="3D59E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06416" y="4415559"/>
            <a:ext cx="2314695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 b="true">
                <a:solidFill>
                  <a:srgbClr val="F8F8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이력·변화 확인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29562" y="5051261"/>
            <a:ext cx="2866430" cy="90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188" spc="-108">
                <a:solidFill>
                  <a:srgbClr val="F8F8F8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이전과 현재의 수치와</a:t>
            </a:r>
          </a:p>
          <a:p>
            <a:pPr algn="l">
              <a:lnSpc>
                <a:spcPts val="3720"/>
              </a:lnSpc>
            </a:pPr>
            <a:r>
              <a:rPr lang="en-US" sz="2188" spc="-108">
                <a:solidFill>
                  <a:srgbClr val="F8F8F8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알림 변화를 비교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445598" y="4493047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883110" y="2995365"/>
            <a:ext cx="3270402" cy="3651284"/>
          </a:xfrm>
          <a:custGeom>
            <a:avLst/>
            <a:gdLst/>
            <a:ahLst/>
            <a:cxnLst/>
            <a:rect r="r" b="b" t="t" l="l"/>
            <a:pathLst>
              <a:path h="3651284" w="3270402">
                <a:moveTo>
                  <a:pt x="0" y="0"/>
                </a:moveTo>
                <a:lnTo>
                  <a:pt x="3270402" y="0"/>
                </a:lnTo>
                <a:lnTo>
                  <a:pt x="3270402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378899" y="3542031"/>
            <a:ext cx="645296" cy="66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spc="-132" b="true">
                <a:solidFill>
                  <a:srgbClr val="3D59E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71093" y="4415559"/>
            <a:ext cx="1425864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 b="true">
                <a:solidFill>
                  <a:srgbClr val="F8F8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재발 안내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85352" y="5051261"/>
            <a:ext cx="2866430" cy="90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0"/>
              </a:lnSpc>
              <a:spcBef>
                <a:spcPct val="0"/>
              </a:spcBef>
            </a:pPr>
            <a:r>
              <a:rPr lang="en-US" sz="2188" spc="-108" strike="noStrike" u="none">
                <a:solidFill>
                  <a:srgbClr val="F8F8F8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복구 확인 후 이상을</a:t>
            </a:r>
          </a:p>
          <a:p>
            <a:pPr algn="l" marL="0" indent="0" lvl="0">
              <a:lnSpc>
                <a:spcPts val="3720"/>
              </a:lnSpc>
              <a:spcBef>
                <a:spcPct val="0"/>
              </a:spcBef>
            </a:pPr>
            <a:r>
              <a:rPr lang="en-US" sz="2188" spc="-108" strike="noStrike" u="none">
                <a:solidFill>
                  <a:srgbClr val="F8F8F8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다시 관측하면 재발 안내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923818" y="4493047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361330" y="2995365"/>
            <a:ext cx="3281340" cy="3651284"/>
          </a:xfrm>
          <a:custGeom>
            <a:avLst/>
            <a:gdLst/>
            <a:ahLst/>
            <a:cxnLst/>
            <a:rect r="r" b="b" t="t" l="l"/>
            <a:pathLst>
              <a:path h="3651284" w="3281340">
                <a:moveTo>
                  <a:pt x="0" y="0"/>
                </a:moveTo>
                <a:lnTo>
                  <a:pt x="3281340" y="0"/>
                </a:lnTo>
                <a:lnTo>
                  <a:pt x="3281340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781110" y="3542031"/>
            <a:ext cx="645296" cy="66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spc="-132" b="true">
                <a:solidFill>
                  <a:srgbClr val="3D59E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760015" y="4445681"/>
            <a:ext cx="2754773" cy="39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spc="-79" b="true">
                <a:solidFill>
                  <a:srgbClr val="F8F8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Markdown 보고서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87562" y="5172165"/>
            <a:ext cx="2866430" cy="690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1723" spc="-85">
                <a:solidFill>
                  <a:srgbClr val="F8F8F8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조사 결과를 Markdown 형식으로 저장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645330" y="7062064"/>
            <a:ext cx="16997340" cy="1300906"/>
          </a:xfrm>
          <a:custGeom>
            <a:avLst/>
            <a:gdLst/>
            <a:ahLst/>
            <a:cxnLst/>
            <a:rect r="r" b="b" t="t" l="l"/>
            <a:pathLst>
              <a:path h="1300906" w="16997340">
                <a:moveTo>
                  <a:pt x="0" y="0"/>
                </a:moveTo>
                <a:lnTo>
                  <a:pt x="16997340" y="0"/>
                </a:lnTo>
                <a:lnTo>
                  <a:pt x="1699734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64086" y="7499343"/>
            <a:ext cx="1104718" cy="644987"/>
          </a:xfrm>
          <a:custGeom>
            <a:avLst/>
            <a:gdLst/>
            <a:ahLst/>
            <a:cxnLst/>
            <a:rect r="r" b="b" t="t" l="l"/>
            <a:pathLst>
              <a:path h="644987" w="1104718">
                <a:moveTo>
                  <a:pt x="0" y="0"/>
                </a:moveTo>
                <a:lnTo>
                  <a:pt x="1104718" y="0"/>
                </a:lnTo>
                <a:lnTo>
                  <a:pt x="110471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44773" y="7619042"/>
            <a:ext cx="803672" cy="33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b="true" sz="2188" spc="-65">
                <a:solidFill>
                  <a:srgbClr val="F8F8F8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예시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56315" y="7563275"/>
            <a:ext cx="10644273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 b="true">
                <a:solidFill>
                  <a:srgbClr val="3D59E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“그 서비스 다시 확인해줘”</a:t>
            </a:r>
            <a:r>
              <a:rPr lang="en-US" sz="2896" spc="-86">
                <a:solidFill>
                  <a:srgbClr val="F8F8F8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라고 말하면, 이전 대상으로 자동 연결됩니다.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113221" y="9536245"/>
            <a:ext cx="1956902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b="true" sz="2896" spc="-86">
                <a:solidFill>
                  <a:srgbClr val="F8F8F8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G028 최민석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6173" y="716128"/>
            <a:ext cx="9355386" cy="937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8"/>
              </a:lnSpc>
            </a:pPr>
            <a:r>
              <a:rPr lang="en-US" sz="6206" spc="-124" b="tru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이번 구현의 한계와 다음 단계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8826" y="2156433"/>
            <a:ext cx="6090083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60" b="tru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샘플 데이터라 실제 </a:t>
            </a:r>
            <a:r>
              <a:rPr lang="en-US" sz="3032" spc="-60" b="true">
                <a:solidFill>
                  <a:srgbClr val="3070E6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운영 복구는 미확인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8570" y="2758866"/>
            <a:ext cx="5115648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4"/>
              </a:lnSpc>
              <a:spcBef>
                <a:spcPct val="0"/>
              </a:spcBef>
            </a:pPr>
            <a:r>
              <a:rPr lang="en-US" sz="2311" spc="-46" strike="noStrike" u="none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지표·서비스별 기준 연결은 후속 과제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3214004"/>
            <a:ext cx="8498670" cy="218640"/>
          </a:xfrm>
          <a:custGeom>
            <a:avLst/>
            <a:gdLst/>
            <a:ahLst/>
            <a:cxnLst/>
            <a:rect r="r" b="b" t="t" l="l"/>
            <a:pathLst>
              <a:path h="218640" w="8498670">
                <a:moveTo>
                  <a:pt x="0" y="0"/>
                </a:moveTo>
                <a:lnTo>
                  <a:pt x="8498670" y="0"/>
                </a:lnTo>
                <a:lnTo>
                  <a:pt x="849867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0823" y="3632395"/>
            <a:ext cx="7890380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60" b="tru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정상 2회·5초 간격으로 </a:t>
            </a:r>
            <a:r>
              <a:rPr lang="en-US" sz="3032" spc="-60" b="true">
                <a:solidFill>
                  <a:srgbClr val="3070E6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신중해지는 대신 확인 지연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4711687"/>
            <a:ext cx="8498670" cy="218640"/>
          </a:xfrm>
          <a:custGeom>
            <a:avLst/>
            <a:gdLst/>
            <a:ahLst/>
            <a:cxnLst/>
            <a:rect r="r" b="b" t="t" l="l"/>
            <a:pathLst>
              <a:path h="218640" w="8498670">
                <a:moveTo>
                  <a:pt x="0" y="0"/>
                </a:moveTo>
                <a:lnTo>
                  <a:pt x="8498670" y="0"/>
                </a:lnTo>
                <a:lnTo>
                  <a:pt x="849867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96254" y="5138480"/>
            <a:ext cx="7347251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60" b="tru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코드 정책으로 </a:t>
            </a:r>
            <a:r>
              <a:rPr lang="en-US" sz="3032" spc="-60" b="true">
                <a:solidFill>
                  <a:srgbClr val="3070E6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일관성은 확보</a:t>
            </a:r>
            <a:r>
              <a:rPr lang="en-US" sz="3032" spc="-60" b="tru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, </a:t>
            </a:r>
            <a:r>
              <a:rPr lang="en-US" sz="3032" spc="-60" b="true">
                <a:solidFill>
                  <a:srgbClr val="5788E8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진단 범위는 </a:t>
            </a:r>
            <a:r>
              <a:rPr lang="en-US" sz="3032" spc="-60" b="true">
                <a:solidFill>
                  <a:srgbClr val="3070E6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제한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9835" y="5771035"/>
            <a:ext cx="6989163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46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정책 기반 분류의 장점과 탐지 유연성 사이의 트레이드오프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6209369"/>
            <a:ext cx="8498670" cy="229572"/>
          </a:xfrm>
          <a:custGeom>
            <a:avLst/>
            <a:gdLst/>
            <a:ahLst/>
            <a:cxnLst/>
            <a:rect r="r" b="b" t="t" l="l"/>
            <a:pathLst>
              <a:path h="229572" w="8498670">
                <a:moveTo>
                  <a:pt x="0" y="0"/>
                </a:moveTo>
                <a:lnTo>
                  <a:pt x="8498670" y="0"/>
                </a:lnTo>
                <a:lnTo>
                  <a:pt x="849867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19096" y="6644564"/>
            <a:ext cx="5063009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60" b="tru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LangSmith </a:t>
            </a:r>
            <a:r>
              <a:rPr lang="en-US" sz="3032" spc="-60" b="true">
                <a:solidFill>
                  <a:srgbClr val="3070E6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실제 추적은 미검증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8570" y="7277119"/>
            <a:ext cx="5115648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46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관련 서비스·배포 이력 조사는 미구현 후보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5330" y="7925691"/>
            <a:ext cx="8072096" cy="1289974"/>
          </a:xfrm>
          <a:custGeom>
            <a:avLst/>
            <a:gdLst/>
            <a:ahLst/>
            <a:cxnLst/>
            <a:rect r="r" b="b" t="t" l="l"/>
            <a:pathLst>
              <a:path h="1289974" w="8072096">
                <a:moveTo>
                  <a:pt x="0" y="0"/>
                </a:moveTo>
                <a:lnTo>
                  <a:pt x="8072096" y="0"/>
                </a:lnTo>
                <a:lnTo>
                  <a:pt x="807209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86211" y="8461390"/>
            <a:ext cx="1214084" cy="276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39" b="tru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코드 저장소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17491" y="8461390"/>
            <a:ext cx="5609452" cy="276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3"/>
              </a:lnSpc>
              <a:spcBef>
                <a:spcPct val="0"/>
              </a:spcBef>
            </a:pPr>
            <a:r>
              <a:rPr lang="en-US" b="true" sz="1986" spc="-39" strike="noStrike" u="none">
                <a:solidFill>
                  <a:srgbClr val="3070E6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https://github.com/likefool1714/ai-miniproject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66049" y="9611549"/>
            <a:ext cx="1877499" cy="41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759" spc="-55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G028 최민석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1951" y="4264951"/>
            <a:ext cx="6777547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46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오탐 방지에 유리하지만 복구 판단 도달이 늦어질 수 있음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DAHYnajx6-0</dc:identifier>
  <dcterms:modified xsi:type="dcterms:W3CDTF">2011-08-01T06:04:30Z</dcterms:modified>
  <cp:revision>1</cp:revision>
  <dc:title>기존 코드 개선 과정</dc:title>
</cp:coreProperties>
</file>