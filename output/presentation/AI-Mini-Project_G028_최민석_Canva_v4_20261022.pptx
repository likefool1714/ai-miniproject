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Source Han Sans KR Bold" charset="1" panose="020B0800000000000000"/>
      <p:regular r:id="rId18"/>
    </p:embeddedFont>
    <p:embeddedFont>
      <p:font typeface="Source Han Sans KR Medium" charset="1" panose="020B0600000000000000"/>
      <p:regular r:id="rId19"/>
    </p:embeddedFont>
    <p:embeddedFont>
      <p:font typeface="Source Han Sans KR" charset="1" panose="020B04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3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32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2500" y="2724150"/>
            <a:ext cx="12001500" cy="262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99"/>
              </a:lnSpc>
              <a:spcBef>
                <a:spcPct val="0"/>
              </a:spcBef>
            </a:pPr>
            <a:r>
              <a:rPr lang="en-US" b="true" sz="8399" spc="-168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운영 장애 대응</a:t>
            </a:r>
          </a:p>
          <a:p>
            <a:pPr algn="l" marL="0" indent="0" lvl="0">
              <a:lnSpc>
                <a:spcPts val="10499"/>
              </a:lnSpc>
              <a:spcBef>
                <a:spcPct val="0"/>
              </a:spcBef>
            </a:pPr>
            <a:r>
              <a:rPr lang="en-US" b="true" sz="8399" spc="-168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에이전트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9650" y="6029325"/>
            <a:ext cx="11430000" cy="46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  <a:spcBef>
                <a:spcPct val="0"/>
              </a:spcBef>
            </a:pPr>
            <a:r>
              <a:rPr lang="en-US" b="true" sz="2999" spc="-60" strike="noStrike" u="none">
                <a:solidFill>
                  <a:srgbClr val="C5DD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상태 변화 추적 · 근거 기반 복구 확인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9650" y="1895475"/>
            <a:ext cx="6191250" cy="31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4"/>
              </a:lnSpc>
              <a:spcBef>
                <a:spcPct val="0"/>
              </a:spcBef>
            </a:pPr>
            <a:r>
              <a:rPr lang="en-US" b="true" sz="2099" spc="-42" strike="noStrike" u="none">
                <a:solidFill>
                  <a:srgbClr val="6BA9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AI MINI 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9650" y="9248775"/>
            <a:ext cx="4762500" cy="300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b="true" sz="1950" spc="-39">
                <a:solidFill>
                  <a:srgbClr val="D3DCE8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G028 최민석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781050"/>
            <a:ext cx="15716250" cy="936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0"/>
              </a:lnSpc>
              <a:spcBef>
                <a:spcPct val="0"/>
              </a:spcBef>
            </a:pPr>
            <a:r>
              <a:rPr lang="en-US" b="true" sz="6000" spc="-120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기존 구조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0100" y="2324100"/>
            <a:ext cx="13335000" cy="420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700" spc="-54" strike="noStrike" u="none">
                <a:solidFill>
                  <a:srgbClr val="C5DD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질문 → 도구 조회 → 답변 생성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478220" y="5356674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22022" y="5028914"/>
            <a:ext cx="794812" cy="96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LLM</a:t>
            </a:r>
          </a:p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계획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748622" y="5356674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831745" y="4787941"/>
            <a:ext cx="1702252" cy="144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MCP</a:t>
            </a:r>
          </a:p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모니터링·</a:t>
            </a:r>
          </a:p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런북 조회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008086" y="5356674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59732" y="5356674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735653" y="5028914"/>
            <a:ext cx="734434" cy="96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형식</a:t>
            </a:r>
          </a:p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검사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0100" y="6791325"/>
            <a:ext cx="13335000" cy="39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8"/>
              </a:lnSpc>
              <a:spcBef>
                <a:spcPct val="0"/>
              </a:spcBef>
            </a:pPr>
            <a:r>
              <a:rPr lang="en-US" b="true" sz="2575" spc="-51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MCP · 모델 · 웹 연결은 재사용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0100" y="7505700"/>
            <a:ext cx="12382500" cy="39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8"/>
              </a:lnSpc>
              <a:spcBef>
                <a:spcPct val="0"/>
              </a:spcBef>
            </a:pPr>
            <a:r>
              <a:rPr lang="en-US" b="true" sz="2575" spc="-51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기존 검사: 길이와 번호 형식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00" y="8162925"/>
            <a:ext cx="12858750" cy="43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119" strike="noStrike" u="none">
                <a:solidFill>
                  <a:srgbClr val="D8E8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ok = len(draft) &gt;= 30 and "1)" in draft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30366" y="5269888"/>
            <a:ext cx="734434" cy="48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78"/>
              </a:lnSpc>
              <a:spcBef>
                <a:spcPct val="0"/>
              </a:spcBef>
            </a:pPr>
            <a:r>
              <a:rPr lang="en-US" b="true" sz="3102" spc="-62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질문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35163" y="5269888"/>
            <a:ext cx="734434" cy="48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답변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714375"/>
            <a:ext cx="1619250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전 실제 답변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190750"/>
            <a:ext cx="16668750" cy="39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625" strike="noStrike" u="none">
                <a:solidFill>
                  <a:srgbClr val="C5DD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질문: PAYMENTS-SERVICE의 복구 여부를 진단해 주세요.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68250" y="3333750"/>
            <a:ext cx="4857750" cy="124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F3BD92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정상 1회로</a:t>
            </a:r>
          </a:p>
          <a:p>
            <a:pPr algn="l" marL="0" indent="0" lvl="0">
              <a:lnSpc>
                <a:spcPts val="5040"/>
              </a:lnSpc>
              <a:spcBef>
                <a:spcPct val="0"/>
              </a:spcBef>
            </a:pPr>
            <a:r>
              <a:rPr lang="en-US" b="true" sz="4200" strike="noStrike" u="none">
                <a:solidFill>
                  <a:srgbClr val="F3BD92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복구 완료 판단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68250" y="5143500"/>
            <a:ext cx="4857750" cy="7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  <a:r>
              <a:rPr lang="en-US" sz="2549" strike="noStrike" u="none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CPU 55% · 메모리 60%</a:t>
            </a:r>
          </a:p>
          <a:p>
            <a:pPr algn="l" marL="0" indent="0" lvl="0">
              <a:lnSpc>
                <a:spcPts val="3060"/>
              </a:lnSpc>
              <a:spcBef>
                <a:spcPct val="0"/>
              </a:spcBef>
            </a:pPr>
            <a:r>
              <a:rPr lang="en-US" sz="2549" strike="noStrike" u="none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활성 알림 0건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68250" y="6581775"/>
            <a:ext cx="4857750" cy="91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b="true" sz="3149" strike="noStrike" u="none">
                <a:solidFill>
                  <a:srgbClr val="F3BD92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조회하지 않은 점검도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b="true" sz="3149" strike="noStrike" u="none">
                <a:solidFill>
                  <a:srgbClr val="F3BD92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수행했다고 표현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8250" y="8096250"/>
            <a:ext cx="4857750" cy="71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C5DD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일시적 정상화와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C5DD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확인하지 않은 설명을 보완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2000" y="9563100"/>
            <a:ext cx="16764000" cy="29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0"/>
              </a:lnSpc>
              <a:spcBef>
                <a:spcPct val="0"/>
              </a:spcBef>
            </a:pPr>
            <a:r>
              <a:rPr lang="en-US" sz="1874" strike="noStrike" u="none">
                <a:solidFill>
                  <a:srgbClr val="B7C8DD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원본 D1043FF · 현재 VUE · 실제 OLLAMA · 고정 합성 관측 · 10/22 단일 실행</a:t>
            </a:r>
          </a:p>
        </p:txBody>
      </p:sp>
      <p:sp>
        <p:nvSpPr>
          <p:cNvPr name="Freeform 10" id="10" descr="최종 Vue에서 실제 원본 Ollama 진단을 5단계 중 첫 정상까지 실행. CPU55%, 메모리60%, 복구 완료·미수행 점검 수행 표현."/>
          <p:cNvSpPr/>
          <p:nvPr/>
        </p:nvSpPr>
        <p:spPr>
          <a:xfrm flipH="false" flipV="false" rot="0">
            <a:off x="666750" y="3333750"/>
            <a:ext cx="11620500" cy="5871782"/>
          </a:xfrm>
          <a:custGeom>
            <a:avLst/>
            <a:gdLst/>
            <a:ahLst/>
            <a:cxnLst/>
            <a:rect r="r" b="b" t="t" l="l"/>
            <a:pathLst>
              <a:path h="5871782" w="11620500">
                <a:moveTo>
                  <a:pt x="0" y="0"/>
                </a:moveTo>
                <a:lnTo>
                  <a:pt x="11620500" y="0"/>
                </a:lnTo>
                <a:lnTo>
                  <a:pt x="11620500" y="5871782"/>
                </a:lnTo>
                <a:lnTo>
                  <a:pt x="0" y="5871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69" t="-1839" r="-1869" b="-1839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809625"/>
            <a:ext cx="1571625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추가한 처리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333625"/>
            <a:ext cx="16668750" cy="39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625" strike="noStrike" u="none">
                <a:solidFill>
                  <a:srgbClr val="C5DD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이전 관측이 있어야 상태 변화와 복구 여부를 설명할 수 있습니다.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5769" y="4160938"/>
            <a:ext cx="1915945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질문·대상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확인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478220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98359" y="4160938"/>
            <a:ext cx="825220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관측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조회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956440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243677" y="4160938"/>
            <a:ext cx="1752246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관측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이력 저장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445598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684858" y="4160938"/>
            <a:ext cx="1915945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변화·복구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판정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923818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057178" y="4160938"/>
            <a:ext cx="2164856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근거 검사와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설명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48359" y="6670489"/>
            <a:ext cx="1807071" cy="54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8"/>
              </a:lnSpc>
              <a:spcBef>
                <a:spcPct val="0"/>
              </a:spcBef>
            </a:pPr>
            <a:r>
              <a:rPr lang="en-US" b="true" sz="3537" strike="noStrike" u="non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재사용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72020" y="6736316"/>
            <a:ext cx="10477500" cy="45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4"/>
              </a:lnSpc>
              <a:spcBef>
                <a:spcPct val="0"/>
              </a:spcBef>
            </a:pPr>
            <a:r>
              <a:rPr lang="en-US" b="true" sz="2896" strike="noStrike" u="non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MCP · 모델 백엔드 · VUE/SSE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5330" y="7707051"/>
            <a:ext cx="1968804" cy="437279"/>
          </a:xfrm>
          <a:custGeom>
            <a:avLst/>
            <a:gdLst/>
            <a:ahLst/>
            <a:cxnLst/>
            <a:rect r="r" b="b" t="t" l="l"/>
            <a:pathLst>
              <a:path h="437279" w="1968804">
                <a:moveTo>
                  <a:pt x="0" y="0"/>
                </a:moveTo>
                <a:lnTo>
                  <a:pt x="1968804" y="0"/>
                </a:lnTo>
                <a:lnTo>
                  <a:pt x="196880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844104" y="7739809"/>
            <a:ext cx="2232590" cy="54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8"/>
              </a:lnSpc>
              <a:spcBef>
                <a:spcPct val="0"/>
              </a:spcBef>
            </a:pPr>
            <a:r>
              <a:rPr lang="en-US" b="true" sz="3537" strike="noStrike" u="none">
                <a:solidFill>
                  <a:srgbClr val="7DB7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직접 구현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53976" y="7805636"/>
            <a:ext cx="10953750" cy="45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4"/>
              </a:lnSpc>
              <a:spcBef>
                <a:spcPct val="0"/>
              </a:spcBef>
            </a:pPr>
            <a:r>
              <a:rPr lang="en-US" b="true" sz="2896" strike="noStrike" u="non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SQLITE 이력 · 복구 정책 · 근거 검증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809625"/>
            <a:ext cx="1571625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pc="-120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판정과 근거 검증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333625"/>
            <a:ext cx="16668750" cy="39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625" spc="-52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복구는 정책으로 판단하고, 모델 제안은 근거를 검사한 뒤 채택합니다.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3762092"/>
            <a:ext cx="2086110" cy="741887"/>
          </a:xfrm>
          <a:custGeom>
            <a:avLst/>
            <a:gdLst/>
            <a:ahLst/>
            <a:cxnLst/>
            <a:rect r="r" b="b" t="t" l="l"/>
            <a:pathLst>
              <a:path h="741887" w="2086110">
                <a:moveTo>
                  <a:pt x="0" y="0"/>
                </a:moveTo>
                <a:lnTo>
                  <a:pt x="2086110" y="0"/>
                </a:lnTo>
                <a:lnTo>
                  <a:pt x="2086110" y="741887"/>
                </a:lnTo>
                <a:lnTo>
                  <a:pt x="0" y="7418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6409" r="-4863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574" y="4285339"/>
            <a:ext cx="5457962" cy="2579949"/>
          </a:xfrm>
          <a:custGeom>
            <a:avLst/>
            <a:gdLst/>
            <a:ahLst/>
            <a:cxnLst/>
            <a:rect r="r" b="b" t="t" l="l"/>
            <a:pathLst>
              <a:path h="2579949" w="5457962">
                <a:moveTo>
                  <a:pt x="0" y="0"/>
                </a:moveTo>
                <a:lnTo>
                  <a:pt x="5457962" y="0"/>
                </a:lnTo>
                <a:lnTo>
                  <a:pt x="545796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1133" y="4639573"/>
            <a:ext cx="3896086" cy="694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09"/>
              </a:lnSpc>
              <a:spcBef>
                <a:spcPct val="0"/>
              </a:spcBef>
            </a:pPr>
            <a:r>
              <a:rPr lang="en-US" sz="2699" spc="-188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normal_streak += 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873598" y="3762092"/>
            <a:ext cx="1996080" cy="741887"/>
          </a:xfrm>
          <a:custGeom>
            <a:avLst/>
            <a:gdLst/>
            <a:ahLst/>
            <a:cxnLst/>
            <a:rect r="r" b="b" t="t" l="l"/>
            <a:pathLst>
              <a:path h="741887" w="1996080">
                <a:moveTo>
                  <a:pt x="0" y="0"/>
                </a:moveTo>
                <a:lnTo>
                  <a:pt x="1996080" y="0"/>
                </a:lnTo>
                <a:lnTo>
                  <a:pt x="1996080" y="741887"/>
                </a:lnTo>
                <a:lnTo>
                  <a:pt x="0" y="7418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6409" r="-31511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73598" y="4285339"/>
            <a:ext cx="6322048" cy="2579949"/>
          </a:xfrm>
          <a:custGeom>
            <a:avLst/>
            <a:gdLst/>
            <a:ahLst/>
            <a:cxnLst/>
            <a:rect r="r" b="b" t="t" l="l"/>
            <a:pathLst>
              <a:path h="2579949" w="6322048">
                <a:moveTo>
                  <a:pt x="0" y="0"/>
                </a:moveTo>
                <a:lnTo>
                  <a:pt x="6322048" y="0"/>
                </a:lnTo>
                <a:lnTo>
                  <a:pt x="632204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91250" y="4733925"/>
            <a:ext cx="5715000" cy="113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9"/>
              </a:lnSpc>
              <a:spcBef>
                <a:spcPct val="0"/>
              </a:spcBef>
            </a:pPr>
            <a:r>
              <a:rPr lang="en-US" sz="2099" spc="-146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draft, errors = validate_draft(</a:t>
            </a:r>
          </a:p>
          <a:p>
            <a:pPr algn="l" marL="0" indent="0" lvl="0">
              <a:lnSpc>
                <a:spcPts val="4829"/>
              </a:lnSpc>
              <a:spcBef>
                <a:spcPct val="0"/>
              </a:spcBef>
            </a:pPr>
            <a:r>
              <a:rPr lang="en-US" sz="2099" spc="-146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   state["draft"], bundle)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403464" y="3762092"/>
            <a:ext cx="4074786" cy="523247"/>
          </a:xfrm>
          <a:custGeom>
            <a:avLst/>
            <a:gdLst/>
            <a:ahLst/>
            <a:cxnLst/>
            <a:rect r="r" b="b" t="t" l="l"/>
            <a:pathLst>
              <a:path h="523247" w="4074786">
                <a:moveTo>
                  <a:pt x="0" y="0"/>
                </a:moveTo>
                <a:lnTo>
                  <a:pt x="4074786" y="0"/>
                </a:lnTo>
                <a:lnTo>
                  <a:pt x="4074786" y="523247"/>
                </a:lnTo>
                <a:lnTo>
                  <a:pt x="0" y="52324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93204" r="0" b="-114238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403464" y="4285339"/>
            <a:ext cx="5457962" cy="2579949"/>
          </a:xfrm>
          <a:custGeom>
            <a:avLst/>
            <a:gdLst/>
            <a:ahLst/>
            <a:cxnLst/>
            <a:rect r="r" b="b" t="t" l="l"/>
            <a:pathLst>
              <a:path h="2579949" w="5457962">
                <a:moveTo>
                  <a:pt x="0" y="0"/>
                </a:moveTo>
                <a:lnTo>
                  <a:pt x="5457962" y="0"/>
                </a:lnTo>
                <a:lnTo>
                  <a:pt x="545796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715875" y="4657725"/>
            <a:ext cx="5048250" cy="1279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347"/>
              </a:lnSpc>
              <a:spcBef>
                <a:spcPct val="0"/>
              </a:spcBef>
            </a:pPr>
            <a:r>
              <a:rPr lang="en-US" sz="2324" spc="-162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Field(ge=0, le=100,</a:t>
            </a:r>
          </a:p>
          <a:p>
            <a:pPr algn="l" marL="0" indent="0" lvl="0">
              <a:lnSpc>
                <a:spcPts val="5347"/>
              </a:lnSpc>
              <a:spcBef>
                <a:spcPct val="0"/>
              </a:spcBef>
            </a:pPr>
            <a:r>
              <a:rPr lang="en-US" sz="2324" spc="-162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     strict=True)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5300" y="7105650"/>
            <a:ext cx="5286375" cy="11229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49"/>
              </a:lnSpc>
              <a:spcBef>
                <a:spcPct val="0"/>
              </a:spcBef>
            </a:pPr>
            <a:r>
              <a:rPr lang="en-US" sz="2324" spc="-46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복구 판정</a:t>
            </a:r>
          </a:p>
          <a:p>
            <a:pPr algn="l" marL="0" indent="0" lvl="0">
              <a:lnSpc>
                <a:spcPts val="4649"/>
              </a:lnSpc>
              <a:spcBef>
                <a:spcPct val="0"/>
              </a:spcBef>
            </a:pPr>
            <a:r>
              <a:rPr lang="en-US" sz="2324" spc="-46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정상 2회·5초 간격, 수집 취소 시 재집계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05948" y="7096125"/>
            <a:ext cx="5476875" cy="118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0"/>
              </a:lnSpc>
              <a:spcBef>
                <a:spcPct val="0"/>
              </a:spcBef>
            </a:pPr>
            <a:r>
              <a:rPr lang="en-US" sz="2475" spc="-49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근거 검사</a:t>
            </a:r>
          </a:p>
          <a:p>
            <a:pPr algn="l" marL="0" indent="0" lvl="0">
              <a:lnSpc>
                <a:spcPts val="4950"/>
              </a:lnSpc>
              <a:spcBef>
                <a:spcPct val="0"/>
              </a:spcBef>
            </a:pPr>
            <a:r>
              <a:rPr lang="en-US" sz="2475" spc="-49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grounding.py에서 근거·런북 대조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92050" y="7096125"/>
            <a:ext cx="5334000" cy="116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자료 형식 검사</a:t>
            </a:r>
          </a:p>
          <a:p>
            <a:pPr algn="l" marL="0" indent="0" lvl="0">
              <a:lnSpc>
                <a:spcPts val="480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true/false를 백분율로 변환하지 않음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22219" y="3892085"/>
            <a:ext cx="5036344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6"/>
              </a:lnSpc>
              <a:spcBef>
                <a:spcPct val="0"/>
              </a:spcBef>
            </a:pPr>
            <a:r>
              <a:rPr lang="en-US" b="true" sz="232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graph.py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37383" y="3873791"/>
            <a:ext cx="5036344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46" b="tru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recovery.py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15875" y="3886200"/>
            <a:ext cx="5048250" cy="3523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4"/>
              </a:lnSpc>
              <a:spcBef>
                <a:spcPct val="0"/>
              </a:spcBef>
            </a:pPr>
            <a:r>
              <a:rPr lang="en-US" sz="2319" spc="-46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recovery.py · 관측 스키마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714375"/>
            <a:ext cx="1619250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후 실제 답변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190750"/>
            <a:ext cx="16668750" cy="410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같은 관측값에서도 정상화와 복구를 구분해 설명합니다.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68250" y="5391150"/>
            <a:ext cx="4857750" cy="4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왜 보류했는지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68250" y="6153150"/>
            <a:ext cx="4857750" cy="4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언제 다시 확인할지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68250" y="6915150"/>
            <a:ext cx="4857750" cy="4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근거와 함께 안내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8250" y="3343275"/>
            <a:ext cx="4857750" cy="1168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b="true" sz="3899" strike="noStrike" u="none">
                <a:solidFill>
                  <a:srgbClr val="A8C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정상 관측 1/2회</a:t>
            </a:r>
          </a:p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b="true" sz="3899" strike="noStrike" u="none">
                <a:solidFill>
                  <a:srgbClr val="A8C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복구 확정 보류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2000" y="9563100"/>
            <a:ext cx="16764000" cy="29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0"/>
              </a:lnSpc>
              <a:spcBef>
                <a:spcPct val="0"/>
              </a:spcBef>
            </a:pPr>
            <a:r>
              <a:rPr lang="en-US" sz="1874" strike="noStrike" u="none">
                <a:solidFill>
                  <a:srgbClr val="B7C8D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현재 Vue · 고정 합성 관측 · 복구 재점검은 코드 판정 · 10/22 실제 화면</a:t>
            </a:r>
          </a:p>
        </p:txBody>
      </p:sp>
      <p:sp>
        <p:nvSpPr>
          <p:cNvPr name="Freeform 10" id="10" descr="10월 22일 현재 Vue의 실제 개선 후 답변. CPU 55%, 메모리60%, 정상1/2회로 보류하는 이유와 다음 조건."/>
          <p:cNvSpPr/>
          <p:nvPr/>
        </p:nvSpPr>
        <p:spPr>
          <a:xfrm flipH="false" flipV="false" rot="0">
            <a:off x="666750" y="3333750"/>
            <a:ext cx="11620500" cy="5441347"/>
          </a:xfrm>
          <a:custGeom>
            <a:avLst/>
            <a:gdLst/>
            <a:ahLst/>
            <a:cxnLst/>
            <a:rect r="r" b="b" t="t" l="l"/>
            <a:pathLst>
              <a:path h="5441347" w="11620500">
                <a:moveTo>
                  <a:pt x="0" y="0"/>
                </a:moveTo>
                <a:lnTo>
                  <a:pt x="11620500" y="0"/>
                </a:lnTo>
                <a:lnTo>
                  <a:pt x="11620500" y="5441347"/>
                </a:lnTo>
                <a:lnTo>
                  <a:pt x="0" y="54413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39" t="-2843" r="-2069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809625"/>
            <a:ext cx="1571625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pc="-120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전후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3190" y="2337163"/>
            <a:ext cx="9690353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5"/>
              </a:lnSpc>
              <a:spcBef>
                <a:spcPct val="0"/>
              </a:spcBef>
            </a:pPr>
            <a:r>
              <a:rPr lang="en-US" b="true" sz="2896" spc="-57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동일한 합성 관측 5단계 × 3회 · 10/20 기록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1630" y="3674034"/>
            <a:ext cx="3176886" cy="82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전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성급한 복구 확정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04410" y="3412019"/>
            <a:ext cx="2762250" cy="136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20"/>
              </a:lnSpc>
              <a:spcBef>
                <a:spcPct val="0"/>
              </a:spcBef>
            </a:pPr>
            <a:r>
              <a:rPr lang="en-US" b="true" sz="9015" spc="-180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3회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487732" y="3848060"/>
            <a:ext cx="875024" cy="655919"/>
          </a:xfrm>
          <a:custGeom>
            <a:avLst/>
            <a:gdLst/>
            <a:ahLst/>
            <a:cxnLst/>
            <a:rect r="r" b="b" t="t" l="l"/>
            <a:pathLst>
              <a:path h="655919" w="875024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148075" y="3674034"/>
            <a:ext cx="3176886" cy="82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후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성급한 복구 확정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10855" y="3412019"/>
            <a:ext cx="2762250" cy="136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20"/>
              </a:lnSpc>
              <a:spcBef>
                <a:spcPct val="0"/>
              </a:spcBef>
            </a:pPr>
            <a:r>
              <a:rPr lang="en-US" b="true" sz="9015" spc="-180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0회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3694" y="5571476"/>
            <a:ext cx="1970441" cy="82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전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재발 안내 누락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04410" y="5309685"/>
            <a:ext cx="2762250" cy="136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20"/>
              </a:lnSpc>
              <a:spcBef>
                <a:spcPct val="0"/>
              </a:spcBef>
            </a:pPr>
            <a:r>
              <a:rPr lang="en-US" b="true" sz="9015" spc="-180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3회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487732" y="5783021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160139" y="5571476"/>
            <a:ext cx="1970441" cy="828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후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재발 안내 누락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10855" y="5309685"/>
            <a:ext cx="2762250" cy="136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20"/>
              </a:lnSpc>
              <a:spcBef>
                <a:spcPct val="0"/>
              </a:spcBef>
            </a:pPr>
            <a:r>
              <a:rPr lang="en-US" b="true" sz="9015" spc="-180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0회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7334250"/>
            <a:ext cx="16192500" cy="374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70"/>
              </a:lnSpc>
              <a:spcBef>
                <a:spcPct val="0"/>
              </a:spcBef>
            </a:pPr>
            <a:r>
              <a:rPr lang="en-US" sz="2475" spc="-49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10/22 재검증 · 아래 결과는 과거 전후 비교와 별도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19250" y="8029575"/>
            <a:ext cx="3905250" cy="834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87"/>
              </a:lnSpc>
              <a:spcBef>
                <a:spcPct val="0"/>
              </a:spcBef>
            </a:pPr>
            <a:r>
              <a:rPr lang="en-US" sz="2324" spc="-46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전체 회귀 검사</a:t>
            </a:r>
          </a:p>
          <a:p>
            <a:pPr algn="l" marL="0" indent="0" lvl="0">
              <a:lnSpc>
                <a:spcPts val="3487"/>
              </a:lnSpc>
              <a:spcBef>
                <a:spcPct val="0"/>
              </a:spcBef>
            </a:pPr>
            <a:r>
              <a:rPr lang="en-US" sz="2324" spc="-46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77개 통과 (10/22)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654842" y="7925691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847617" y="8038177"/>
            <a:ext cx="3818919" cy="83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67"/>
              </a:lnSpc>
              <a:spcBef>
                <a:spcPct val="0"/>
              </a:spcBef>
            </a:pPr>
            <a:r>
              <a:rPr lang="en-US" b="true" sz="231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실제 API 진단 4건</a:t>
            </a:r>
          </a:p>
          <a:p>
            <a:pPr algn="ctr" marL="0" indent="0" lvl="0">
              <a:lnSpc>
                <a:spcPts val="3467"/>
              </a:lnSpc>
              <a:spcBef>
                <a:spcPct val="0"/>
              </a:spcBef>
            </a:pPr>
            <a:r>
              <a:rPr lang="en-US" b="true" sz="231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원격 호출 12건 HTTP 200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747196" y="7925691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049959" y="8038177"/>
            <a:ext cx="2310384" cy="83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67"/>
              </a:lnSpc>
              <a:spcBef>
                <a:spcPct val="0"/>
              </a:spcBef>
            </a:pPr>
            <a:r>
              <a:rPr lang="en-US" b="true" sz="231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합성 자료의 결과</a:t>
            </a:r>
          </a:p>
          <a:p>
            <a:pPr algn="l" marL="0" indent="0" lvl="0">
              <a:lnSpc>
                <a:spcPts val="3467"/>
              </a:lnSpc>
              <a:spcBef>
                <a:spcPct val="0"/>
              </a:spcBef>
            </a:pPr>
            <a:r>
              <a:rPr lang="en-US" b="true" sz="231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일반 정확도와 구분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714375"/>
            <a:ext cx="1619250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pc="-178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추가한 기능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190750"/>
            <a:ext cx="16668750" cy="39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625" spc="-78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이전 상태를 기록해야 변화와 복구 이후 재발까지 확인할 수 있습니다.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68250" y="3190875"/>
            <a:ext cx="4857750" cy="49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  <a:spcBef>
                <a:spcPct val="0"/>
              </a:spcBef>
            </a:pPr>
            <a:r>
              <a:rPr lang="en-US" b="true" sz="3300" spc="-98" strike="noStrike" u="none">
                <a:solidFill>
                  <a:srgbClr val="A8C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이력 저장·조회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68250" y="4010025"/>
            <a:ext cx="4857750" cy="4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pc="-84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이전·현재 변화 비교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68250" y="4629150"/>
            <a:ext cx="4857750" cy="4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pc="-84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새 관측으로 재점검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8250" y="5248275"/>
            <a:ext cx="4857750" cy="41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pc="-84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복구 후 재발 감지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68250" y="6677025"/>
            <a:ext cx="4857750" cy="847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pc="-84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Markdown 보고서</a:t>
            </a:r>
          </a:p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pc="-84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근거·판정 내보내기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2000" y="9563100"/>
            <a:ext cx="16764000" cy="29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0"/>
              </a:lnSpc>
              <a:spcBef>
                <a:spcPct val="0"/>
              </a:spcBef>
            </a:pPr>
            <a:r>
              <a:rPr lang="en-US" sz="1874" spc="-55" strike="noStrike" u="none">
                <a:solidFill>
                  <a:srgbClr val="B7C8D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대화·서비스별 관측 5건 · 이력·보고서는 저장 자료 조회 · 재점검만 새 관측</a:t>
            </a:r>
          </a:p>
        </p:txBody>
      </p:sp>
      <p:sp>
        <p:nvSpPr>
          <p:cNvPr name="Freeform 11" id="11" descr="현재 Vue에서 실제 버튼을 눌러 조회한 장애-부분회복-정상1회보류-복구-재발 관측5건."/>
          <p:cNvSpPr/>
          <p:nvPr/>
        </p:nvSpPr>
        <p:spPr>
          <a:xfrm flipH="false" flipV="false" rot="0">
            <a:off x="666750" y="3333750"/>
            <a:ext cx="11620500" cy="5441347"/>
          </a:xfrm>
          <a:custGeom>
            <a:avLst/>
            <a:gdLst/>
            <a:ahLst/>
            <a:cxnLst/>
            <a:rect r="r" b="b" t="t" l="l"/>
            <a:pathLst>
              <a:path h="5441347" w="11620500">
                <a:moveTo>
                  <a:pt x="0" y="0"/>
                </a:moveTo>
                <a:lnTo>
                  <a:pt x="11620500" y="0"/>
                </a:lnTo>
                <a:lnTo>
                  <a:pt x="11620500" y="5441347"/>
                </a:lnTo>
                <a:lnTo>
                  <a:pt x="0" y="54413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39" t="-2843" r="-2069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809625"/>
            <a:ext cx="1571625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pc="-120" strike="noStrike" u="non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한계와 다음 단계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3133725"/>
            <a:ext cx="5143500" cy="5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599" spc="-72" strike="noStrike" u="none">
                <a:solidFill>
                  <a:srgbClr val="C5DD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합성 데이터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4429125"/>
            <a:ext cx="4953000" cy="71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실제 운영 복구는 미확인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다음: 실제 지표·서비스별 기준 연결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62750" y="3133725"/>
            <a:ext cx="5143500" cy="5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pc="-72" strike="noStrike" u="none">
                <a:solidFill>
                  <a:srgbClr val="C5DD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신중한 복구 판정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3000" y="3133725"/>
            <a:ext cx="5143500" cy="5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pc="-72" strike="noStrike" u="none">
                <a:solidFill>
                  <a:srgbClr val="C5DD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코드 기반 정책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73000" y="4429125"/>
            <a:ext cx="4953000" cy="71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일관된 판정 ↔ 제한된 진단 범위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다음: 서비스별 정책 세분화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7048500"/>
            <a:ext cx="11430000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3032" spc="-60" strike="noStrike" u="non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LangSmith 추적 미검증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7620000"/>
            <a:ext cx="14763750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4"/>
              </a:lnSpc>
              <a:spcBef>
                <a:spcPct val="0"/>
              </a:spcBef>
            </a:pPr>
            <a:r>
              <a:rPr lang="en-US" sz="2311" spc="-46" strike="noStrike" u="none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관련 서비스·배포 이력 연계는 미구현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" y="8867775"/>
            <a:ext cx="1714500" cy="276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39" b="tru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코드 저장소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57500" y="8858250"/>
            <a:ext cx="13811250" cy="30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099" spc="-42" strike="noStrike" u="none">
                <a:solidFill>
                  <a:srgbClr val="B9D8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https://github.com/likefool1714/ai-miniproject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62750" y="4429125"/>
            <a:ext cx="4953000" cy="71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정상 2회 · 최소 5초 간격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성급한 확정 감소 ↔ 확인 지연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714375"/>
            <a:ext cx="1619250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부록 · 백엔드 기동 확인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190750"/>
            <a:ext cx="16668750" cy="410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0"/>
              </a:lnSpc>
              <a:spcBef>
                <a:spcPct val="0"/>
              </a:spcBef>
            </a:pPr>
            <a:r>
              <a:rPr lang="en-US" sz="2700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실제 API 모드로 서버를 시작하고 상태 응답까지 확인했습니다.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68250" y="5381625"/>
            <a:ext cx="4857750" cy="33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2249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MCP 연결·API 설정 확인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68250" y="6143625"/>
            <a:ext cx="4857750" cy="33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GET /health → HTTP 200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68250" y="6905625"/>
            <a:ext cx="4857750" cy="33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sz="2250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실제 모델 호출은 별도 검증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8250" y="3343275"/>
            <a:ext cx="4857750" cy="1168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b="true" sz="3899" strike="noStrike" u="none">
                <a:solidFill>
                  <a:srgbClr val="A8C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OpenAI 모드</a:t>
            </a:r>
          </a:p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b="true" sz="3899" strike="noStrike" u="none">
                <a:solidFill>
                  <a:srgbClr val="A8C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서버 시작 완료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2000" y="9563100"/>
            <a:ext cx="16764000" cy="29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0"/>
              </a:lnSpc>
              <a:spcBef>
                <a:spcPct val="0"/>
              </a:spcBef>
            </a:pPr>
            <a:r>
              <a:rPr lang="en-US" sz="1874" strike="noStrike" u="none">
                <a:solidFill>
                  <a:srgbClr val="B7C8D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실제 stdout 기동·상태 응답 줄 · 확인용 8125 포트 · 읽기 전용 로그 화면</a:t>
            </a:r>
          </a:p>
        </p:txBody>
      </p:sp>
      <p:sp>
        <p:nvSpPr>
          <p:cNvPr name="Freeform 10" id="10" descr="실제 OpenAI 모드 백엔드 stdout의 시작 완료와 health HTTP200을 읽기 전용 로그 화면에서 촬영."/>
          <p:cNvSpPr/>
          <p:nvPr/>
        </p:nvSpPr>
        <p:spPr>
          <a:xfrm flipH="false" flipV="false" rot="0">
            <a:off x="666750" y="3333750"/>
            <a:ext cx="11620500" cy="5441347"/>
          </a:xfrm>
          <a:custGeom>
            <a:avLst/>
            <a:gdLst/>
            <a:ahLst/>
            <a:cxnLst/>
            <a:rect r="r" b="b" t="t" l="l"/>
            <a:pathLst>
              <a:path h="5441347" w="11620500">
                <a:moveTo>
                  <a:pt x="0" y="0"/>
                </a:moveTo>
                <a:lnTo>
                  <a:pt x="11620500" y="0"/>
                </a:lnTo>
                <a:lnTo>
                  <a:pt x="11620500" y="5441347"/>
                </a:lnTo>
                <a:lnTo>
                  <a:pt x="0" y="54413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39" t="-2843" r="-2069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714375"/>
            <a:ext cx="1619250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pc="-178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부록 · 프론트엔드 기동 확인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190750"/>
            <a:ext cx="16668750" cy="39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2625" spc="-78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현재 Vue 화면 제공과 백엔드 상태 조회가 정상적으로 연결됩니다.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68250" y="3190875"/>
            <a:ext cx="4857750" cy="499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60"/>
              </a:lnSpc>
              <a:spcBef>
                <a:spcPct val="0"/>
              </a:spcBef>
            </a:pPr>
            <a:r>
              <a:rPr lang="en-US" b="true" sz="3300" spc="-98" strike="noStrike" u="none">
                <a:solidFill>
                  <a:srgbClr val="A8C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화면·연결 정상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68250" y="4000500"/>
            <a:ext cx="4857750" cy="35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1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GET / → HTTP 200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68250" y="4619625"/>
            <a:ext cx="4857750" cy="35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1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GET /health → 200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8250" y="5238750"/>
            <a:ext cx="4857750" cy="35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71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백엔드 연결 확인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668250" y="6677025"/>
            <a:ext cx="4857750" cy="847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pc="-84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Vue · SSE 프록시</a:t>
            </a:r>
          </a:p>
          <a:p>
            <a:pPr algn="l" marL="0" indent="0" lvl="0">
              <a:lnSpc>
                <a:spcPts val="3420"/>
              </a:lnSpc>
              <a:spcBef>
                <a:spcPct val="0"/>
              </a:spcBef>
            </a:pPr>
            <a:r>
              <a:rPr lang="en-US" sz="2850" spc="-84" strike="noStrike" u="none">
                <a:solidFill>
                  <a:srgbClr val="C5DD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현재 화면 사용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2000" y="9563100"/>
            <a:ext cx="16764000" cy="295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250"/>
              </a:lnSpc>
              <a:spcBef>
                <a:spcPct val="0"/>
              </a:spcBef>
            </a:pPr>
            <a:r>
              <a:rPr lang="en-US" sz="1874" spc="-55" strike="noStrike" u="none">
                <a:solidFill>
                  <a:srgbClr val="B7C8DD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실제 stdout 기동·HTTP 응답 줄 · 확인용 8625 포트 · 기존 앱 8600 유지</a:t>
            </a:r>
          </a:p>
        </p:txBody>
      </p:sp>
      <p:sp>
        <p:nvSpPr>
          <p:cNvPr name="Freeform 11" id="11" descr="실제 프론트엔드 프로세스 stdout의 시작 완료와 화면 및 health HTTP200을 읽기 전용 로그 화면에서 촬영."/>
          <p:cNvSpPr/>
          <p:nvPr/>
        </p:nvSpPr>
        <p:spPr>
          <a:xfrm flipH="false" flipV="false" rot="0">
            <a:off x="666750" y="3333750"/>
            <a:ext cx="11620500" cy="5441347"/>
          </a:xfrm>
          <a:custGeom>
            <a:avLst/>
            <a:gdLst/>
            <a:ahLst/>
            <a:cxnLst/>
            <a:rect r="r" b="b" t="t" l="l"/>
            <a:pathLst>
              <a:path h="5441347" w="11620500">
                <a:moveTo>
                  <a:pt x="0" y="0"/>
                </a:moveTo>
                <a:lnTo>
                  <a:pt x="11620500" y="0"/>
                </a:lnTo>
                <a:lnTo>
                  <a:pt x="11620500" y="5441347"/>
                </a:lnTo>
                <a:lnTo>
                  <a:pt x="0" y="54413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39" t="-2843" r="-2069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714375"/>
            <a:ext cx="16192500" cy="767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21"/>
              </a:lnSpc>
              <a:spcBef>
                <a:spcPct val="0"/>
              </a:spcBef>
            </a:pPr>
            <a:r>
              <a:rPr lang="en-US" b="true" sz="5100" spc="-102" strike="noStrike" u="non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부록 · 보고서 내보내기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2000" y="2190750"/>
            <a:ext cx="16668750" cy="35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C5DD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관측·판정·정책을 파일로 남겨 조사 결과를 전달합니다.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668250" y="3343275"/>
            <a:ext cx="4857750" cy="918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3150" spc="-63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Markdown 파일</a:t>
            </a:r>
          </a:p>
          <a:p>
            <a:pPr algn="l" marL="0" indent="0" lvl="0">
              <a:lnSpc>
                <a:spcPts val="3780"/>
              </a:lnSpc>
              <a:spcBef>
                <a:spcPct val="0"/>
              </a:spcBef>
            </a:pPr>
            <a:r>
              <a:rPr lang="en-US" sz="3150" spc="-63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관측·근거·정책 저장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668250" y="5381625"/>
            <a:ext cx="4857750" cy="35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C5DD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저장 자료로 생성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668250" y="6143625"/>
            <a:ext cx="4857750" cy="35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b="true" sz="2400" spc="-48" strike="noStrike" u="none">
                <a:solidFill>
                  <a:srgbClr val="C5DD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새 모니터링 조회 없음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668250" y="6905625"/>
            <a:ext cx="4857750" cy="33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00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현재 Vue 다운로드 링크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2000" y="9563100"/>
            <a:ext cx="16764000" cy="277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60"/>
              </a:lnSpc>
              <a:spcBef>
                <a:spcPct val="0"/>
              </a:spcBef>
            </a:pPr>
            <a:r>
              <a:rPr lang="en-US" sz="1800" spc="-36" strike="noStrike" u="none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실제 Vue 다운로드 화면 · 보고서에는 조사 이력·현재 판정·정책과 한계 포함</a:t>
            </a:r>
          </a:p>
        </p:txBody>
      </p:sp>
      <p:sp>
        <p:nvSpPr>
          <p:cNvPr name="Freeform 10" id="10" descr="현재 Vue의 실제 보고서 다운로드 링크와 판정 정책·한계 화면."/>
          <p:cNvSpPr/>
          <p:nvPr/>
        </p:nvSpPr>
        <p:spPr>
          <a:xfrm flipH="false" flipV="false" rot="0">
            <a:off x="666750" y="3333750"/>
            <a:ext cx="11620500" cy="5441347"/>
          </a:xfrm>
          <a:custGeom>
            <a:avLst/>
            <a:gdLst/>
            <a:ahLst/>
            <a:cxnLst/>
            <a:rect r="r" b="b" t="t" l="l"/>
            <a:pathLst>
              <a:path h="5441347" w="11620500">
                <a:moveTo>
                  <a:pt x="0" y="0"/>
                </a:moveTo>
                <a:lnTo>
                  <a:pt x="11620500" y="0"/>
                </a:lnTo>
                <a:lnTo>
                  <a:pt x="11620500" y="5441347"/>
                </a:lnTo>
                <a:lnTo>
                  <a:pt x="0" y="544134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80" t="0" r="-8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DAHYsAzZ33w</dc:identifier>
  <dcterms:modified xsi:type="dcterms:W3CDTF">2011-08-01T06:04:30Z</dcterms:modified>
  <cp:revision>1</cp:revision>
  <dc:title>운영 장애 대응 에이전트 · G028 최민석 · 최종 발표</dc:title>
</cp:coreProperties>
</file>